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the Free Music Archive, FMA: Creative Commons music that artists uploaded between 2008 and 2017, delivered as 30-second clips. We worked with two subsets. FMA small has 8,000 tracks, exactly 1,000 in each of eight genres. That balance made it the right place for the baseline and for listening rounds one and two. FMA medium has 25,000 tracks across sixteen genres, and it is very unbalanced: Rock and Electronic alone are more than half of it, while Easy Listening has 21 tracks. The live app serves 24,757 of these. The dataset also ships 518 ready-made audio features per clip, computed with librosa. About 224 describe timbre, the colour of the sound: MFCCs and spectral shape. The other 294 describe harmony: chroma and tonnetz. That split mattered later, because the harmony block turned out to be the weakest for similarity.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Exploring the data before modelling changed four things in what we built. One: the 518 numbers repeat each other. Many of them measure almost the same aspect of the sound, for example several versions of loudness or brightness. PCA is a method that squeezes them into fewer numbers: 144 numbers still keep ninety percent of the information. So we compare songs on those 144 numbers. That is faster, and it removes noise. Two: half of the artists have only one song, while one artist has 208. Two songs by the same artist almost always sound alike, for an obvious reason, so a test with such pairs would look better than it is. That is why we never test two songs by the same artist. Three: this one is about the big catalogue only. Our baseline used the small set, which is perfectly balanced, one thousand songs per genre; that is one reason we started there. The big catalogue, which the live app uses, is mostly Rock and Electronic, 54 percent of the 25,000 songs. If we picked test songs at random, most of them would be Rock or Electronic, and jazz, folk or country would hardly be tested. So we picked one test song per genre. And in the app, the Bridge step limits how many songs of one genre it shows, so the list does not fill up with Rock just because there is so much of it. Four: a genre name does not tell you the sound. "Pop" is a market label, not a sound. Two Rock songs can sound nothing alike, and a jazz song and a folk song can sound close. So genre is only a rough check, and the real judge of "sounds alike" is people's ears. That is why we ran listening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 from our first model to the one that ships, in six steps. Notice the rhythm: build, test, build, test. One, built: the baseline. 518 audio features, compressed with PCA, and the closest songs by cosine similarity. At first we judged it only by genre. Two, tested: round one. Six people rated pairs of songs that the baseline recommended. It clearly beat random, 2.96 against 1.87. And people told us they listen for rhythm and drums, not genre. Three, built: "heard". This is where our own model was born. We made it from round one's answers, adding rhythm and drum features. It fitted round one's scores well, but that proves little, because it was built from those same scores. Four, tested: round two. This is where "heard" was really tested: new songs, and pairs from both "heard" and the baseline. Result: a tie. "heard" was not better. Five, chosen: EffNet, a pre-trained network that describes each song with 1,280 numbers. Checked against the scores from both rounds, it matched people best, so it ships. Six, tested: the live app, in round four. Home and Bridge recommendations sound related; Adventure goes too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as a path, in three parts. Part one: building. Step zero, the problem. We wanted an app where you pick a track and choose how far to travel from it. Recommendation feeds are usually either too familiar, the same thing again, or too random, with no thread back. So our promise became: similar in sound, with the distance in your hands. Step one, the data. We chose the Free Music Archive: real audio, thirty-second clips, an open licence, and a perfectly balanced set of eight thousand tracks for fair testing. We explored it before modelling, and four findings shaped the design: the features repeat each other, half the artists have one track, the big catalogue is lopsided, and genre labels are coarse. Step two, the baseline. 518 audio features, standardised so no feature dominates because of its scale, compressed with PCA because they repeat each other, and compared with cosine distance, which looks at the shape of the sound rather than its loudness. The dial simply chooses which slice of the ranking you hear. That gave us a working model to beat. Step three, the genre check. We first measured whether the picks share the seed's genre. It is fast and needs no people. It gave us numbers, but it left the big question open: is genre even the right ruler for "sounds similar"?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listening. This is where the project changed direction. Step four, round one. Six people rated eighty blind pairs from one to five. Why? Because the app promises "sounds similar", and only the human ear can judge that. The model clearly beat random, 2.96 against 1.87, and far picks were still related. But what people described was rhythm and drums, not genre. Step five, our own features, "heard". We added rhythm features and a drum-to-instrument ratio, and dropped the weak harmony features, because we wanted to build exactly what listeners told us they hear. On round one's ratings it fitted better. Step six, round two. A basic rule of science: never judge an idea on the same data it came from. "heard" was built from round one, so it had to be tested on new data. Twelve fresh seeds, pairs from both models. The model still beat random, but "heard" and the old model tied, so we withdrew the claim that "heard" sounds better. Step seven, EffNet. Our hand-made features had hit their limit, so Tim brought in a pre-trained network that turns each track into 1,280 numbers. For one seed, Spotify's own picks landed in our top 0.2 percent with EffNet, against 8.7 percent with "heard"; YouTube's picks in the top 0.1 percent, against 5.1 percent. A strong signal, but offline, not yet heard. Step eight, the ear check. Before switching, we checked EffNet's distances against all the ratings from rounds one and two. It agreed with listeners most, 0.59 and 0.73, and it could tell close from closer. So EffNet is the model that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three: shipping and testing what ships. Step nine, the app. We built a real product: a React screen and a FastAPI service, 24,757 tracks, and a three-step dial. The screen and the model are separate, so the model could change without rewriting the screen, which is exactly what happened when we moved to EffNet. It is live, with a QR code. Step ten, round three, set aside. We had built a test of EffNet against "heard". It had to use the small 8,000-song set, because the rhythm and drum features of "heard" only exist for those songs. By the time it was ready, the app had moved to the bigger catalogue and new tiers, so it no longer tested what ships. Lesson: never test an old version of your product. Step eleven, round four. Forty-two pairs taken straight from the live app, with the questions and pass marks written into Git before any rating. Home and Bridge clearly beat random; Adventure scored the same as random. The dial works as a dial, but its far end goes too far. Step twelve, next. Move Adventure closer, to roughly ranks 400 to 1,400, add more raters and seeds, and test the Taste Map with listeners too. The test told us exactly where it breaks, so we fix that and listen again. The one-line summary: at every turn, the listeners decided, not a number that only looked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turning point of the project. At the start we judged every model by genre match: do the recommended tracks share the seed's genre label? Round one showed that this is not what people actually hear. So we changed the ruler. For every model we asked: when it says two tracks are close, do listeners also rate them as similar? That is a rank correlation between the model's distance and the listeners' average score. Higher means it agrees more with the ear. Lime is round one, the baseline test: people rated pairs the baseline picked. Pink is round two, "heard" against the baseline on new songs. No new listening was done for this slide: we hold each model up against the scores people already gave in those two rounds. Our baseline with 518 features barely agreed in round one. Our own "heard" features did better in round one but did not hold up in round two. EffNet agrees most in both rounds: 0.59 and 0.73. To be precise if asked: these numbers were computed after the ratings came in, on pairs that the older models had picked, not EffNet. That is why we then ran round four, which tests EffNet's own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did we get from our own "heard" features to EffNet? On the left, what changed: only the song's fingerprint. Before, 154 hand-made features compressed to 57 numbers. After, a pre-trained network that listens to each clip and gives 1,280 numbers. The distance, the ranking and the dial stayed exactly the same. On the right, why we switched. It started with round two: "heard" only tied the baseline by ear, so we looked for something better. The table compares "heard" and EffNet on five checks. Rows one and two, the Spotify and YouTube check. For one starting song, Tim took the songs Spotify and YouTube recommend, and looked where they land in our list of about eight thousand songs, sorted by closeness. With "heard", Spotify's picks landed around rank 690; with EffNet, around rank 14. YouTube's: around 410 against 9. So EffNet's idea of "similar" is much closer to the big platforms'. This was one song and computer only, so it was a first signal. Row three: agreement with listeners. We held both models up against people's scores from rounds one and two. One means always agrees, zero means never. "heard": 0.39 and 0.33. EffNet: 0.59 and 0.73. Row four: among the closest songs, can the model tell which is closer? We split the closest pairs into three groups by the model's distance and averaged people's scores. EffNet goes 4.1, 3.1, 2.3: down step by step. "heard" goes 3.4, 3.5, 2.8: its middle group even beat its closest. Row five: "heard" only exists for the 8,000 songs we extracted rhythm features for; EffNet describes all 24,757. Honest caveat if asked: the listener rows use old ratings on pairs the older models picked, checked after the fact. Round four then tested EffNet's own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EffNet? In one sentence: a ready-made neural network for music that listens to a song and describes it with 1,280 numbers. On the left, what its makers say about it. Its full name is Discogs-EffNet, and it is part of Essentia, an open-source audio toolkit made by the Music Technology Group at Universitat Pompeu Fabra in Barcelona. It is built on EfficientNet, a network design that was first made for images; here it looks at a picture of the sound instead of a photo. It was trained to name a song's style, choosing from 400 styles used by Discogs, which is a huge online database of music records. A song can get several styles at once. Its licence is non-commercial, so it is fine for a capstone but not for a paid product without a licence from the university. The paper behind it was published at ISMIR 2022, the main conference for music and AI. On the right, how we use it. Each thirty-second clip is turned into a spectrogram, a picture of the sound. EffNet reads it and produces 1,280 numbers: the song's fingerprint. We stop just before the network names a style, because we do not want the label, we want the description of the sound. We do this once per song, offline, and save all 24,757 fingerprints. When you use the app, it only compares saved fingerprints by their angle, cosine similarity: a smaller angle means the songs sound more alike. No neural network runs while you click. If asked about weaknesses: it was trained on style labels, so it naturally groups songs by genre. That is why we judged it by ear and not by genre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four tested exactly what the live app recommends. Three parts, left to right. One, the seeds: six starting songs. They had to be new to every listener, because if you recognise a song or a voice you score from memory, not from your ears. One per genre and one per artist, so we test many kinds of music, not one style the app happens to be good at. Drawn by chance with a fixed random number, so we could not pick easy songs, and anyone can repeat the draw. And fixed in Git before we saw a single recommendation. Two, the pairs: for each seed, the app gave its recommendations at Home, Bridge and Adventure. We took two from each step, drawn at random from the first five, plus one random song as the floor. That is seven pairs per seed, forty-two in total: twelve Home, twelve Bridge, twelve Adventure, six random. The random pairs matter because people use the one-to-five scale differently; random shows what "not related" scores, and every step is compared against it. Three, fair listening: six raters, all blind. No names or genres, a coin flip decides which clip plays first, and the volumes are matched, because two clips at the same loudness sound more alike. Seven pairs were heard by everyone, to check that people agree with each other. The other pairs were split, about fifteen minutes each. Then each step of the dial was compared with random, using rules we wrote down in Git before any rating came back. The results are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answers the pre-registered questions. Home averaged 3.60 and Bridge 3.35 on the one-to-five scale. In the comparison against random, a Home pair scored higher than a random pair in ninety percent of the seventy-two match-ups, Bridge in eighty-eight percent. After correcting for three tests, both are significant at about p = 0.01. Adventure averaged 1.71, the same as random at 1.72: it wins only half the match-ups, a coin toss. Three takeaways. First, the dial is heard as a dial: the further the tier, the lower the score, rho minus 0.63. Second, an exploratory finding that was not pre-registered: Home and Bridge sound about the same to listeners; the real drop is between Bridge and Adventure. Third, Adventure goes too far. It scores below Home and Bridge on all six seeds, so this is not one bad seed. Our fix is to move Adventure closer, to ranks of roughly 400 to 1,400, and test again. Be ready for the weak point: thirty-five of the forty-two pairs were rated by only one person. Single pairs are noisy; the evidence is the pattern across thirty-six tier pairs, six seeds and two independent checks. A second check against the random floor of earlier rounds, 1.57, gives the same answer. Note on the R1d file: if R1d was the author's own pilot, the pre-registration says not to count it. Without it, Home is 3.72, Bridge 3.43, Adventure 1.64, random 1.40, and every conclusion stays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group of columns is one of the six seeds, named by its genre. The four columns show how similar listeners found the Home, Bridge, Adventure and random pairs for that seed, on the one-to-five scale. Look at the orange column with its number on top. On every one of the six seeds, Adventure is shorter than both Home and Bridge. So Adventure's problem is not one unlucky seed; it happens every time. Home and Bridge move around with the seed. For Instrumental, Bridge even beat Home, and on Jazz they are equal. That fits the finding that, to listeners, Home and Bridge sound about the same. If asked about the two tall grey random columns, Old-Time and Instrumental at 3.00: each random column is a single pair, mostly rated by one person, so one generous rating moves it a lot. That is why the test compares the tiers with random across all six seeds together, and also against the random floor of earlier rounds, 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6250"/>
          </a:xfrm>
          <a:prstGeom prst="rect">
            <a:avLst/>
          </a:prstGeom>
          <a:noFill/>
          <a:ln/>
        </p:spPr>
        <p:txBody>
          <a:bodyPr wrap="square" lIns="0" tIns="0" rIns="0" bIns="0" rtlCol="0" anchor="t"/>
          <a:lstStyle>
            <a:lvl1pPr algn="l" indent="0" marL="0">
              <a:lnSpc>
                <a:spcPct val="115000"/>
              </a:lnSpc>
              <a:buNone/>
              <a:defRPr lang="en-US" sz="3600" dirty="0">
                <a:solidFill>
                  <a:srgbClr val="171B2E"/>
                </a:solidFill>
                <a:latin typeface="Unbounded" pitchFamily="34" charset="0"/>
                <a:ea typeface="Unbounded" pitchFamily="34" charset="-122"/>
                <a:cs typeface="Unbounde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593850"/>
            <a:ext cx="10566400" cy="4451350"/>
          </a:xfrm>
          <a:prstGeom prst="rect">
            <a:avLst/>
          </a:prstGeom>
          <a:noFill/>
          <a:ln/>
        </p:spPr>
        <p:txBody>
          <a:bodyPr wrap="square" lIns="0" tIns="0" rIns="0" bIns="0" rtlCol="0" anchor="t"/>
          <a:lstStyle>
            <a:lvl1pPr algn="l" indent="0" marL="0">
              <a:lnSpc>
                <a:spcPct val="140000"/>
              </a:lnSpc>
              <a:buNone/>
              <a:defRPr lang="en-US" sz="1600" dirty="0">
                <a:solidFill>
                  <a:srgbClr val="171B2E"/>
                </a:solidFill>
                <a:latin typeface="Poppins" pitchFamily="34" charset="0"/>
                <a:ea typeface="Poppins" pitchFamily="34" charset="-122"/>
                <a:cs typeface="Poppi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76250"/>
          </a:xfrm>
          <a:prstGeom prst="rect">
            <a:avLst/>
          </a:prstGeom>
          <a:noFill/>
          <a:ln/>
        </p:spPr>
        <p:txBody>
          <a:bodyPr wrap="square" lIns="0" tIns="0" rIns="0" bIns="0" rtlCol="0" anchor="t"/>
          <a:lstStyle>
            <a:lvl1pPr algn="l" indent="0" marL="0">
              <a:lnSpc>
                <a:spcPct val="115000"/>
              </a:lnSpc>
              <a:buNone/>
              <a:defRPr lang="en-US" sz="3600" dirty="0">
                <a:solidFill>
                  <a:srgbClr val="171B2E"/>
                </a:solidFill>
                <a:latin typeface="Unbounded" pitchFamily="34" charset="0"/>
                <a:ea typeface="Unbounded" pitchFamily="34" charset="-122"/>
                <a:cs typeface="Unbounde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593850"/>
            <a:ext cx="10566400" cy="4451350"/>
          </a:xfrm>
          <a:prstGeom prst="rect">
            <a:avLst/>
          </a:prstGeom>
          <a:noFill/>
          <a:ln/>
        </p:spPr>
        <p:txBody>
          <a:bodyPr wrap="square" lIns="0" tIns="0" rIns="0" bIns="0" rtlCol="0" anchor="t"/>
          <a:lstStyle>
            <a:lvl1pPr algn="l" indent="0" marL="0">
              <a:lnSpc>
                <a:spcPct val="140000"/>
              </a:lnSpc>
              <a:buNone/>
              <a:defRPr lang="en-US" sz="1600" dirty="0">
                <a:solidFill>
                  <a:srgbClr val="171B2E"/>
                </a:solidFill>
                <a:latin typeface="Poppins" pitchFamily="34" charset="0"/>
                <a:ea typeface="Poppins" pitchFamily="34" charset="-122"/>
                <a:cs typeface="Poppi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71B2E"/>
                </a:solidFill>
                <a:latin typeface="Unbounded" pitchFamily="34" charset="0"/>
                <a:ea typeface="Unbounded" pitchFamily="34" charset="-122"/>
                <a:cs typeface="Unbounded" pitchFamily="34" charset="-120"/>
              </a:rPr>
              <a:t>THE DATA</a:t>
            </a:r>
            <a:endParaRPr lang="en-US" sz="3600" dirty="0"/>
          </a:p>
        </p:txBody>
      </p:sp>
      <p:sp>
        <p:nvSpPr>
          <p:cNvPr id="3" name="Shape 1"/>
          <p:cNvSpPr/>
          <p:nvPr/>
        </p:nvSpPr>
        <p:spPr>
          <a:xfrm>
            <a:off x="844550" y="1543050"/>
            <a:ext cx="0" cy="1098550"/>
          </a:xfrm>
          <a:prstGeom prst="line">
            <a:avLst/>
          </a:prstGeom>
          <a:noFill/>
          <a:ln w="63500">
            <a:solidFill>
              <a:srgbClr val="2F6FE4"/>
            </a:solidFill>
            <a:prstDash val="solid"/>
          </a:ln>
        </p:spPr>
      </p:sp>
      <p:sp>
        <p:nvSpPr>
          <p:cNvPr id="4" name="Text 2"/>
          <p:cNvSpPr/>
          <p:nvPr/>
        </p:nvSpPr>
        <p:spPr>
          <a:xfrm>
            <a:off x="1028700" y="1543050"/>
            <a:ext cx="4355973" cy="41275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2F6FE4"/>
                </a:solidFill>
                <a:latin typeface="Unbounded" pitchFamily="34" charset="0"/>
                <a:ea typeface="Unbounded" pitchFamily="34" charset="-122"/>
                <a:cs typeface="Unbounded" pitchFamily="34" charset="-120"/>
              </a:rPr>
              <a:t>8,000</a:t>
            </a:r>
            <a:endParaRPr lang="en-US" sz="2800" dirty="0"/>
          </a:p>
        </p:txBody>
      </p:sp>
      <p:sp>
        <p:nvSpPr>
          <p:cNvPr id="5" name="Text 3"/>
          <p:cNvSpPr/>
          <p:nvPr/>
        </p:nvSpPr>
        <p:spPr>
          <a:xfrm>
            <a:off x="1028700" y="1955800"/>
            <a:ext cx="4355973"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1B2E"/>
                </a:solidFill>
                <a:latin typeface="Poppins" pitchFamily="34" charset="0"/>
                <a:ea typeface="Poppins" pitchFamily="34" charset="-122"/>
                <a:cs typeface="Poppins" pitchFamily="34" charset="-120"/>
              </a:rPr>
              <a:t>FMA small: 8 genres × 1,000 tracks, perfectly balanced. Used for the baseline and listening rounds 1–2.</a:t>
            </a:r>
            <a:endParaRPr lang="en-US" sz="1300" dirty="0"/>
          </a:p>
        </p:txBody>
      </p:sp>
      <p:sp>
        <p:nvSpPr>
          <p:cNvPr id="6" name="Shape 4"/>
          <p:cNvSpPr/>
          <p:nvPr/>
        </p:nvSpPr>
        <p:spPr>
          <a:xfrm>
            <a:off x="844550" y="2819400"/>
            <a:ext cx="0" cy="869950"/>
          </a:xfrm>
          <a:prstGeom prst="line">
            <a:avLst/>
          </a:prstGeom>
          <a:noFill/>
          <a:ln w="63500">
            <a:solidFill>
              <a:srgbClr val="D63A7A"/>
            </a:solidFill>
            <a:prstDash val="solid"/>
          </a:ln>
        </p:spPr>
      </p:sp>
      <p:sp>
        <p:nvSpPr>
          <p:cNvPr id="7" name="Text 5"/>
          <p:cNvSpPr/>
          <p:nvPr/>
        </p:nvSpPr>
        <p:spPr>
          <a:xfrm>
            <a:off x="1028700" y="2819400"/>
            <a:ext cx="4355973" cy="41275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D63A7A"/>
                </a:solidFill>
                <a:latin typeface="Unbounded" pitchFamily="34" charset="0"/>
                <a:ea typeface="Unbounded" pitchFamily="34" charset="-122"/>
                <a:cs typeface="Unbounded" pitchFamily="34" charset="-120"/>
              </a:rPr>
              <a:t>25,000</a:t>
            </a:r>
            <a:endParaRPr lang="en-US" sz="2800" dirty="0"/>
          </a:p>
        </p:txBody>
      </p:sp>
      <p:sp>
        <p:nvSpPr>
          <p:cNvPr id="8" name="Text 6"/>
          <p:cNvSpPr/>
          <p:nvPr/>
        </p:nvSpPr>
        <p:spPr>
          <a:xfrm>
            <a:off x="1028700" y="3232150"/>
            <a:ext cx="4355973"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1B2E"/>
                </a:solidFill>
                <a:latin typeface="Poppins" pitchFamily="34" charset="0"/>
                <a:ea typeface="Poppins" pitchFamily="34" charset="-122"/>
                <a:cs typeface="Poppins" pitchFamily="34" charset="-120"/>
              </a:rPr>
              <a:t>FMA medium: 16 genres, far from balanced. The live app serves 24,757 of them.</a:t>
            </a:r>
            <a:endParaRPr lang="en-US" sz="1300" dirty="0"/>
          </a:p>
        </p:txBody>
      </p:sp>
      <p:sp>
        <p:nvSpPr>
          <p:cNvPr id="9" name="Shape 7"/>
          <p:cNvSpPr/>
          <p:nvPr/>
        </p:nvSpPr>
        <p:spPr>
          <a:xfrm>
            <a:off x="844550" y="3867150"/>
            <a:ext cx="0" cy="1098550"/>
          </a:xfrm>
          <a:prstGeom prst="line">
            <a:avLst/>
          </a:prstGeom>
          <a:noFill/>
          <a:ln w="63500">
            <a:solidFill>
              <a:srgbClr val="E07B1F"/>
            </a:solidFill>
            <a:prstDash val="solid"/>
          </a:ln>
        </p:spPr>
      </p:sp>
      <p:sp>
        <p:nvSpPr>
          <p:cNvPr id="10" name="Text 8"/>
          <p:cNvSpPr/>
          <p:nvPr/>
        </p:nvSpPr>
        <p:spPr>
          <a:xfrm>
            <a:off x="1028700" y="3867150"/>
            <a:ext cx="4355973" cy="41275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B85F0F"/>
                </a:solidFill>
                <a:latin typeface="Unbounded" pitchFamily="34" charset="0"/>
                <a:ea typeface="Unbounded" pitchFamily="34" charset="-122"/>
                <a:cs typeface="Unbounded" pitchFamily="34" charset="-120"/>
              </a:rPr>
              <a:t>518</a:t>
            </a:r>
            <a:endParaRPr lang="en-US" sz="2800" dirty="0"/>
          </a:p>
        </p:txBody>
      </p:sp>
      <p:sp>
        <p:nvSpPr>
          <p:cNvPr id="11" name="Text 9"/>
          <p:cNvSpPr/>
          <p:nvPr/>
        </p:nvSpPr>
        <p:spPr>
          <a:xfrm>
            <a:off x="1028700" y="4279900"/>
            <a:ext cx="4355973"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1B2E"/>
                </a:solidFill>
                <a:latin typeface="Poppins" pitchFamily="34" charset="0"/>
                <a:ea typeface="Poppins" pitchFamily="34" charset="-122"/>
                <a:cs typeface="Poppins" pitchFamily="34" charset="-120"/>
              </a:rPr>
              <a:t>Ready-made audio features per 30-second clip: 224 timbre (MFCC, spectral), 294 harmony (chroma, tonnetz).</a:t>
            </a:r>
            <a:endParaRPr lang="en-US" sz="1300" dirty="0"/>
          </a:p>
        </p:txBody>
      </p:sp>
      <p:sp>
        <p:nvSpPr>
          <p:cNvPr id="12" name="Text 10"/>
          <p:cNvSpPr/>
          <p:nvPr/>
        </p:nvSpPr>
        <p:spPr>
          <a:xfrm>
            <a:off x="5715000" y="1543050"/>
            <a:ext cx="5834126"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63A7A"/>
                </a:solidFill>
                <a:latin typeface="Poppins" pitchFamily="34" charset="0"/>
                <a:ea typeface="Poppins" pitchFamily="34" charset="-122"/>
                <a:cs typeface="Poppins" pitchFamily="34" charset="-120"/>
              </a:rPr>
              <a:t>FMA MEDIUM BY GENRE</a:t>
            </a:r>
            <a:endParaRPr lang="en-US" sz="1200" dirty="0"/>
          </a:p>
        </p:txBody>
      </p:sp>
      <p:sp>
        <p:nvSpPr>
          <p:cNvPr id="13" name="Text 11"/>
          <p:cNvSpPr/>
          <p:nvPr/>
        </p:nvSpPr>
        <p:spPr>
          <a:xfrm>
            <a:off x="5715000" y="181610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Rock</a:t>
            </a:r>
            <a:endParaRPr lang="en-US" sz="1200" dirty="0"/>
          </a:p>
        </p:txBody>
      </p:sp>
      <p:sp>
        <p:nvSpPr>
          <p:cNvPr id="14" name="Shape 12"/>
          <p:cNvSpPr/>
          <p:nvPr/>
        </p:nvSpPr>
        <p:spPr>
          <a:xfrm>
            <a:off x="7277100" y="1851025"/>
            <a:ext cx="3302000" cy="139700"/>
          </a:xfrm>
          <a:prstGeom prst="roundRect">
            <a:avLst>
              <a:gd name="adj" fmla="val 27273"/>
            </a:avLst>
          </a:prstGeom>
          <a:solidFill>
            <a:srgbClr val="171B2E"/>
          </a:solidFill>
          <a:ln/>
        </p:spPr>
      </p:sp>
      <p:sp>
        <p:nvSpPr>
          <p:cNvPr id="15" name="Text 13"/>
          <p:cNvSpPr/>
          <p:nvPr/>
        </p:nvSpPr>
        <p:spPr>
          <a:xfrm>
            <a:off x="10680700" y="1816100"/>
            <a:ext cx="41719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7,103</a:t>
            </a:r>
            <a:endParaRPr lang="en-US" sz="1200" dirty="0"/>
          </a:p>
        </p:txBody>
      </p:sp>
      <p:sp>
        <p:nvSpPr>
          <p:cNvPr id="16" name="Text 14"/>
          <p:cNvSpPr/>
          <p:nvPr/>
        </p:nvSpPr>
        <p:spPr>
          <a:xfrm>
            <a:off x="5715000" y="208915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Electronic</a:t>
            </a:r>
            <a:endParaRPr lang="en-US" sz="1200" dirty="0"/>
          </a:p>
        </p:txBody>
      </p:sp>
      <p:sp>
        <p:nvSpPr>
          <p:cNvPr id="17" name="Shape 15"/>
          <p:cNvSpPr/>
          <p:nvPr/>
        </p:nvSpPr>
        <p:spPr>
          <a:xfrm>
            <a:off x="7277100" y="2124075"/>
            <a:ext cx="2933700" cy="139700"/>
          </a:xfrm>
          <a:prstGeom prst="roundRect">
            <a:avLst>
              <a:gd name="adj" fmla="val 27273"/>
            </a:avLst>
          </a:prstGeom>
          <a:solidFill>
            <a:srgbClr val="171B2E"/>
          </a:solidFill>
          <a:ln/>
        </p:spPr>
      </p:sp>
      <p:sp>
        <p:nvSpPr>
          <p:cNvPr id="18" name="Text 16"/>
          <p:cNvSpPr/>
          <p:nvPr/>
        </p:nvSpPr>
        <p:spPr>
          <a:xfrm>
            <a:off x="10312400" y="2089150"/>
            <a:ext cx="43362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6,314</a:t>
            </a:r>
            <a:endParaRPr lang="en-US" sz="1200" dirty="0"/>
          </a:p>
        </p:txBody>
      </p:sp>
      <p:sp>
        <p:nvSpPr>
          <p:cNvPr id="19" name="Text 17"/>
          <p:cNvSpPr/>
          <p:nvPr/>
        </p:nvSpPr>
        <p:spPr>
          <a:xfrm>
            <a:off x="5715000" y="236220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Experimental</a:t>
            </a:r>
            <a:endParaRPr lang="en-US" sz="1200" dirty="0"/>
          </a:p>
        </p:txBody>
      </p:sp>
      <p:sp>
        <p:nvSpPr>
          <p:cNvPr id="20" name="Shape 18"/>
          <p:cNvSpPr/>
          <p:nvPr/>
        </p:nvSpPr>
        <p:spPr>
          <a:xfrm>
            <a:off x="7277100" y="2397125"/>
            <a:ext cx="1047750" cy="139700"/>
          </a:xfrm>
          <a:prstGeom prst="roundRect">
            <a:avLst>
              <a:gd name="adj" fmla="val 27273"/>
            </a:avLst>
          </a:prstGeom>
          <a:solidFill>
            <a:srgbClr val="4A4F63"/>
          </a:solidFill>
          <a:ln/>
        </p:spPr>
      </p:sp>
      <p:sp>
        <p:nvSpPr>
          <p:cNvPr id="21" name="Text 19"/>
          <p:cNvSpPr/>
          <p:nvPr/>
        </p:nvSpPr>
        <p:spPr>
          <a:xfrm>
            <a:off x="8426450" y="2362200"/>
            <a:ext cx="41993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2,251</a:t>
            </a:r>
            <a:endParaRPr lang="en-US" sz="1200" dirty="0"/>
          </a:p>
        </p:txBody>
      </p:sp>
      <p:sp>
        <p:nvSpPr>
          <p:cNvPr id="22" name="Text 20"/>
          <p:cNvSpPr/>
          <p:nvPr/>
        </p:nvSpPr>
        <p:spPr>
          <a:xfrm>
            <a:off x="5715000" y="263525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Hip-Hop</a:t>
            </a:r>
            <a:endParaRPr lang="en-US" sz="1200" dirty="0"/>
          </a:p>
        </p:txBody>
      </p:sp>
      <p:sp>
        <p:nvSpPr>
          <p:cNvPr id="23" name="Shape 21"/>
          <p:cNvSpPr/>
          <p:nvPr/>
        </p:nvSpPr>
        <p:spPr>
          <a:xfrm>
            <a:off x="7277100" y="2670175"/>
            <a:ext cx="1022350" cy="139700"/>
          </a:xfrm>
          <a:prstGeom prst="roundRect">
            <a:avLst>
              <a:gd name="adj" fmla="val 27273"/>
            </a:avLst>
          </a:prstGeom>
          <a:solidFill>
            <a:srgbClr val="4A4F63"/>
          </a:solidFill>
          <a:ln/>
        </p:spPr>
      </p:sp>
      <p:sp>
        <p:nvSpPr>
          <p:cNvPr id="24" name="Text 22"/>
          <p:cNvSpPr/>
          <p:nvPr/>
        </p:nvSpPr>
        <p:spPr>
          <a:xfrm>
            <a:off x="8401050" y="2635250"/>
            <a:ext cx="419933"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2,201</a:t>
            </a:r>
            <a:endParaRPr lang="en-US" sz="1200" dirty="0"/>
          </a:p>
        </p:txBody>
      </p:sp>
      <p:sp>
        <p:nvSpPr>
          <p:cNvPr id="25" name="Text 23"/>
          <p:cNvSpPr/>
          <p:nvPr/>
        </p:nvSpPr>
        <p:spPr>
          <a:xfrm>
            <a:off x="5715000" y="290830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Folk</a:t>
            </a:r>
            <a:endParaRPr lang="en-US" sz="1200" dirty="0"/>
          </a:p>
        </p:txBody>
      </p:sp>
      <p:sp>
        <p:nvSpPr>
          <p:cNvPr id="26" name="Shape 24"/>
          <p:cNvSpPr/>
          <p:nvPr/>
        </p:nvSpPr>
        <p:spPr>
          <a:xfrm>
            <a:off x="7277100" y="2943225"/>
            <a:ext cx="704850" cy="139700"/>
          </a:xfrm>
          <a:prstGeom prst="roundRect">
            <a:avLst>
              <a:gd name="adj" fmla="val 27273"/>
            </a:avLst>
          </a:prstGeom>
          <a:solidFill>
            <a:srgbClr val="4A4F63"/>
          </a:solidFill>
          <a:ln/>
        </p:spPr>
      </p:sp>
      <p:sp>
        <p:nvSpPr>
          <p:cNvPr id="27" name="Text 25"/>
          <p:cNvSpPr/>
          <p:nvPr/>
        </p:nvSpPr>
        <p:spPr>
          <a:xfrm>
            <a:off x="8083550" y="2908300"/>
            <a:ext cx="38338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1,519</a:t>
            </a:r>
            <a:endParaRPr lang="en-US" sz="1200" dirty="0"/>
          </a:p>
        </p:txBody>
      </p:sp>
      <p:sp>
        <p:nvSpPr>
          <p:cNvPr id="28" name="Text 26"/>
          <p:cNvSpPr/>
          <p:nvPr/>
        </p:nvSpPr>
        <p:spPr>
          <a:xfrm>
            <a:off x="5715000" y="318135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Instrumental</a:t>
            </a:r>
            <a:endParaRPr lang="en-US" sz="1200" dirty="0"/>
          </a:p>
        </p:txBody>
      </p:sp>
      <p:sp>
        <p:nvSpPr>
          <p:cNvPr id="29" name="Shape 27"/>
          <p:cNvSpPr/>
          <p:nvPr/>
        </p:nvSpPr>
        <p:spPr>
          <a:xfrm>
            <a:off x="7277100" y="3216275"/>
            <a:ext cx="628650" cy="139700"/>
          </a:xfrm>
          <a:prstGeom prst="roundRect">
            <a:avLst>
              <a:gd name="adj" fmla="val 27273"/>
            </a:avLst>
          </a:prstGeom>
          <a:solidFill>
            <a:srgbClr val="4A4F63"/>
          </a:solidFill>
          <a:ln/>
        </p:spPr>
      </p:sp>
      <p:sp>
        <p:nvSpPr>
          <p:cNvPr id="30" name="Text 28"/>
          <p:cNvSpPr/>
          <p:nvPr/>
        </p:nvSpPr>
        <p:spPr>
          <a:xfrm>
            <a:off x="8007350" y="3181350"/>
            <a:ext cx="432197"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1,350</a:t>
            </a:r>
            <a:endParaRPr lang="en-US" sz="1200" dirty="0"/>
          </a:p>
        </p:txBody>
      </p:sp>
      <p:sp>
        <p:nvSpPr>
          <p:cNvPr id="31" name="Text 29"/>
          <p:cNvSpPr/>
          <p:nvPr/>
        </p:nvSpPr>
        <p:spPr>
          <a:xfrm>
            <a:off x="5715000" y="345440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Pop</a:t>
            </a:r>
            <a:endParaRPr lang="en-US" sz="1200" dirty="0"/>
          </a:p>
        </p:txBody>
      </p:sp>
      <p:sp>
        <p:nvSpPr>
          <p:cNvPr id="32" name="Shape 30"/>
          <p:cNvSpPr/>
          <p:nvPr/>
        </p:nvSpPr>
        <p:spPr>
          <a:xfrm>
            <a:off x="7277100" y="3489325"/>
            <a:ext cx="552450" cy="139700"/>
          </a:xfrm>
          <a:prstGeom prst="roundRect">
            <a:avLst>
              <a:gd name="adj" fmla="val 27273"/>
            </a:avLst>
          </a:prstGeom>
          <a:solidFill>
            <a:srgbClr val="4A4F63"/>
          </a:solidFill>
          <a:ln/>
        </p:spPr>
      </p:sp>
      <p:sp>
        <p:nvSpPr>
          <p:cNvPr id="33" name="Text 31"/>
          <p:cNvSpPr/>
          <p:nvPr/>
        </p:nvSpPr>
        <p:spPr>
          <a:xfrm>
            <a:off x="7931150" y="3454400"/>
            <a:ext cx="38481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1,186</a:t>
            </a:r>
            <a:endParaRPr lang="en-US" sz="1200" dirty="0"/>
          </a:p>
        </p:txBody>
      </p:sp>
      <p:sp>
        <p:nvSpPr>
          <p:cNvPr id="34" name="Text 32"/>
          <p:cNvSpPr/>
          <p:nvPr/>
        </p:nvSpPr>
        <p:spPr>
          <a:xfrm>
            <a:off x="5715000" y="372745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International</a:t>
            </a:r>
            <a:endParaRPr lang="en-US" sz="1200" dirty="0"/>
          </a:p>
        </p:txBody>
      </p:sp>
      <p:sp>
        <p:nvSpPr>
          <p:cNvPr id="35" name="Shape 33"/>
          <p:cNvSpPr/>
          <p:nvPr/>
        </p:nvSpPr>
        <p:spPr>
          <a:xfrm>
            <a:off x="7277100" y="3762375"/>
            <a:ext cx="476250" cy="139700"/>
          </a:xfrm>
          <a:prstGeom prst="roundRect">
            <a:avLst>
              <a:gd name="adj" fmla="val 27273"/>
            </a:avLst>
          </a:prstGeom>
          <a:solidFill>
            <a:srgbClr val="4A4F63"/>
          </a:solidFill>
          <a:ln/>
        </p:spPr>
      </p:sp>
      <p:sp>
        <p:nvSpPr>
          <p:cNvPr id="36" name="Text 34"/>
          <p:cNvSpPr/>
          <p:nvPr/>
        </p:nvSpPr>
        <p:spPr>
          <a:xfrm>
            <a:off x="7854950" y="3727450"/>
            <a:ext cx="3835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1,018</a:t>
            </a:r>
            <a:endParaRPr lang="en-US" sz="1200" dirty="0"/>
          </a:p>
        </p:txBody>
      </p:sp>
      <p:sp>
        <p:nvSpPr>
          <p:cNvPr id="37" name="Text 35"/>
          <p:cNvSpPr/>
          <p:nvPr/>
        </p:nvSpPr>
        <p:spPr>
          <a:xfrm>
            <a:off x="5715000" y="400050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Classical</a:t>
            </a:r>
            <a:endParaRPr lang="en-US" sz="1200" dirty="0"/>
          </a:p>
        </p:txBody>
      </p:sp>
      <p:sp>
        <p:nvSpPr>
          <p:cNvPr id="38" name="Shape 36"/>
          <p:cNvSpPr/>
          <p:nvPr/>
        </p:nvSpPr>
        <p:spPr>
          <a:xfrm>
            <a:off x="7277100" y="4035425"/>
            <a:ext cx="285750" cy="139700"/>
          </a:xfrm>
          <a:prstGeom prst="roundRect">
            <a:avLst>
              <a:gd name="adj" fmla="val 27273"/>
            </a:avLst>
          </a:prstGeom>
          <a:solidFill>
            <a:srgbClr val="4A4F63"/>
          </a:solidFill>
          <a:ln/>
        </p:spPr>
      </p:sp>
      <p:sp>
        <p:nvSpPr>
          <p:cNvPr id="39" name="Text 37"/>
          <p:cNvSpPr/>
          <p:nvPr/>
        </p:nvSpPr>
        <p:spPr>
          <a:xfrm>
            <a:off x="7664450" y="4000500"/>
            <a:ext cx="29239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619</a:t>
            </a:r>
            <a:endParaRPr lang="en-US" sz="1200" dirty="0"/>
          </a:p>
        </p:txBody>
      </p:sp>
      <p:sp>
        <p:nvSpPr>
          <p:cNvPr id="40" name="Text 38"/>
          <p:cNvSpPr/>
          <p:nvPr/>
        </p:nvSpPr>
        <p:spPr>
          <a:xfrm>
            <a:off x="5715000" y="4273550"/>
            <a:ext cx="1511300"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7 smaller genres</a:t>
            </a:r>
            <a:endParaRPr lang="en-US" sz="1200" dirty="0"/>
          </a:p>
        </p:txBody>
      </p:sp>
      <p:sp>
        <p:nvSpPr>
          <p:cNvPr id="41" name="Shape 39"/>
          <p:cNvSpPr/>
          <p:nvPr/>
        </p:nvSpPr>
        <p:spPr>
          <a:xfrm>
            <a:off x="7277100" y="4308475"/>
            <a:ext cx="666750" cy="139700"/>
          </a:xfrm>
          <a:prstGeom prst="roundRect">
            <a:avLst>
              <a:gd name="adj" fmla="val 27273"/>
            </a:avLst>
          </a:prstGeom>
          <a:solidFill>
            <a:srgbClr val="4A4F63"/>
          </a:solidFill>
          <a:ln/>
        </p:spPr>
      </p:sp>
      <p:sp>
        <p:nvSpPr>
          <p:cNvPr id="42" name="Text 40"/>
          <p:cNvSpPr/>
          <p:nvPr/>
        </p:nvSpPr>
        <p:spPr>
          <a:xfrm>
            <a:off x="8045450" y="4273550"/>
            <a:ext cx="4327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1,439</a:t>
            </a:r>
            <a:endParaRPr lang="en-US" sz="1200" dirty="0"/>
          </a:p>
        </p:txBody>
      </p:sp>
      <p:sp>
        <p:nvSpPr>
          <p:cNvPr id="43" name="Text 41"/>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63"/>
                </a:solidFill>
                <a:latin typeface="Poppins" pitchFamily="34" charset="0"/>
                <a:ea typeface="Poppins" pitchFamily="34" charset="-122"/>
                <a:cs typeface="Poppins" pitchFamily="34" charset="-120"/>
              </a:rPr>
              <a:t>Free Music Archive (FMA): Creative Commons music uploaded 2008–2017. Rock and Electronic alone are 54% of FMA medium.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1B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C8F041"/>
                </a:solidFill>
                <a:latin typeface="Unbounded" pitchFamily="34" charset="0"/>
                <a:ea typeface="Unbounded" pitchFamily="34" charset="-122"/>
                <a:cs typeface="Unbounded" pitchFamily="34" charset="-120"/>
              </a:rPr>
              <a:t>WHAT THE DATA TOLD US</a:t>
            </a:r>
            <a:endParaRPr lang="en-US" sz="3600" dirty="0"/>
          </a:p>
        </p:txBody>
      </p:sp>
      <p:sp>
        <p:nvSpPr>
          <p:cNvPr id="3" name="Shape 1"/>
          <p:cNvSpPr/>
          <p:nvPr/>
        </p:nvSpPr>
        <p:spPr>
          <a:xfrm>
            <a:off x="812800" y="1593850"/>
            <a:ext cx="5194300" cy="2136775"/>
          </a:xfrm>
          <a:prstGeom prst="roundRect">
            <a:avLst>
              <a:gd name="adj" fmla="val 7132"/>
            </a:avLst>
          </a:prstGeom>
          <a:solidFill>
            <a:srgbClr val="232842"/>
          </a:solidFill>
          <a:ln/>
        </p:spPr>
      </p:sp>
      <p:sp>
        <p:nvSpPr>
          <p:cNvPr id="4" name="Shape 2"/>
          <p:cNvSpPr/>
          <p:nvPr/>
        </p:nvSpPr>
        <p:spPr>
          <a:xfrm>
            <a:off x="812800" y="1593850"/>
            <a:ext cx="5194300" cy="2136775"/>
          </a:xfrm>
          <a:custGeom>
            <a:avLst/>
            <a:gdLst/>
            <a:ahLst/>
            <a:cxnLst/>
            <a:rect l="l" t="t" r="r" b="b"/>
            <a:pathLst>
              <a:path w="5194300" h="2136775">
                <a:moveTo>
                  <a:pt x="0" y="152400"/>
                </a:moveTo>
                <a:lnTo>
                  <a:pt x="0" y="152400"/>
                </a:lnTo>
                <a:arcTo hR="152400" wR="152400" stAng="10800000" swAng="5400000"/>
                <a:lnTo>
                  <a:pt x="5041900" y="0"/>
                </a:lnTo>
                <a:arcTo hR="152400" wR="152400" stAng="16200000" swAng="5400000"/>
                <a:lnTo>
                  <a:pt x="5194300" y="152400"/>
                </a:lnTo>
                <a:arcTo hR="88900" wR="152400" stAng="0" swAng="-5400000"/>
                <a:lnTo>
                  <a:pt x="152400" y="63500"/>
                </a:lnTo>
                <a:arcTo hR="88900" wR="152400" stAng="16200000" swAng="-5400000"/>
                <a:close/>
              </a:path>
            </a:pathLst>
          </a:custGeom>
          <a:solidFill>
            <a:srgbClr val="2F6FE4"/>
          </a:solidFill>
          <a:ln/>
        </p:spPr>
      </p:sp>
      <p:sp>
        <p:nvSpPr>
          <p:cNvPr id="5" name="Text 3"/>
          <p:cNvSpPr/>
          <p:nvPr/>
        </p:nvSpPr>
        <p:spPr>
          <a:xfrm>
            <a:off x="1041400" y="1847850"/>
            <a:ext cx="4879213" cy="25400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B"/>
                </a:solidFill>
                <a:latin typeface="Poppins" pitchFamily="34" charset="0"/>
                <a:ea typeface="Poppins" pitchFamily="34" charset="-122"/>
                <a:cs typeface="Poppins" pitchFamily="34" charset="-120"/>
              </a:rPr>
              <a:t>1 · The 518 numbers repeat each other</a:t>
            </a:r>
            <a:endParaRPr lang="en-US" sz="1400" dirty="0"/>
          </a:p>
        </p:txBody>
      </p:sp>
      <p:sp>
        <p:nvSpPr>
          <p:cNvPr id="6" name="Text 4"/>
          <p:cNvSpPr/>
          <p:nvPr/>
        </p:nvSpPr>
        <p:spPr>
          <a:xfrm>
            <a:off x="1041400" y="2152650"/>
            <a:ext cx="4879213" cy="4572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ED3"/>
                </a:solidFill>
                <a:latin typeface="Poppins" pitchFamily="34" charset="0"/>
                <a:ea typeface="Poppins" pitchFamily="34" charset="-122"/>
                <a:cs typeface="Poppins" pitchFamily="34" charset="-120"/>
              </a:rPr>
              <a:t>Many of them measure almost the same thing. PCA squeezes them into 144 numbers and still keeps 90% of the information.</a:t>
            </a:r>
            <a:endParaRPr lang="en-US" sz="1200" dirty="0"/>
          </a:p>
        </p:txBody>
      </p:sp>
      <p:sp>
        <p:nvSpPr>
          <p:cNvPr id="7" name="Text 5"/>
          <p:cNvSpPr/>
          <p:nvPr/>
        </p:nvSpPr>
        <p:spPr>
          <a:xfrm>
            <a:off x="1041400" y="2660650"/>
            <a:ext cx="4879213" cy="45720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C8F041"/>
                </a:solidFill>
                <a:latin typeface="Poppins" pitchFamily="34" charset="0"/>
                <a:ea typeface="Poppins" pitchFamily="34" charset="-122"/>
                <a:cs typeface="Poppins" pitchFamily="34" charset="-120"/>
              </a:rPr>
              <a:t>So:</a:t>
            </a:r>
            <a:r>
              <a:rPr lang="en-US" sz="1200" dirty="0">
                <a:solidFill>
                  <a:srgbClr val="F6F3EB"/>
                </a:solidFill>
                <a:latin typeface="Poppins" pitchFamily="34" charset="0"/>
                <a:ea typeface="Poppins" pitchFamily="34" charset="-122"/>
                <a:cs typeface="Poppins" pitchFamily="34" charset="-120"/>
              </a:rPr>
              <a:t> we compare songs on these 144 numbers: faster, and less noise.</a:t>
            </a:r>
            <a:endParaRPr lang="en-US" sz="1200" dirty="0"/>
          </a:p>
        </p:txBody>
      </p:sp>
      <p:sp>
        <p:nvSpPr>
          <p:cNvPr id="8" name="Shape 6"/>
          <p:cNvSpPr/>
          <p:nvPr/>
        </p:nvSpPr>
        <p:spPr>
          <a:xfrm>
            <a:off x="6184900" y="1593850"/>
            <a:ext cx="5194300" cy="2136775"/>
          </a:xfrm>
          <a:prstGeom prst="roundRect">
            <a:avLst>
              <a:gd name="adj" fmla="val 7132"/>
            </a:avLst>
          </a:prstGeom>
          <a:solidFill>
            <a:srgbClr val="232842"/>
          </a:solidFill>
          <a:ln/>
        </p:spPr>
      </p:sp>
      <p:sp>
        <p:nvSpPr>
          <p:cNvPr id="9" name="Shape 7"/>
          <p:cNvSpPr/>
          <p:nvPr/>
        </p:nvSpPr>
        <p:spPr>
          <a:xfrm>
            <a:off x="6184900" y="1593850"/>
            <a:ext cx="5194300" cy="2136775"/>
          </a:xfrm>
          <a:custGeom>
            <a:avLst/>
            <a:gdLst/>
            <a:ahLst/>
            <a:cxnLst/>
            <a:rect l="l" t="t" r="r" b="b"/>
            <a:pathLst>
              <a:path w="5194300" h="2136775">
                <a:moveTo>
                  <a:pt x="0" y="152400"/>
                </a:moveTo>
                <a:lnTo>
                  <a:pt x="0" y="152400"/>
                </a:lnTo>
                <a:arcTo hR="152400" wR="152400" stAng="10800000" swAng="5400000"/>
                <a:lnTo>
                  <a:pt x="5041900" y="0"/>
                </a:lnTo>
                <a:arcTo hR="152400" wR="152400" stAng="16200000" swAng="5400000"/>
                <a:lnTo>
                  <a:pt x="5194300" y="152400"/>
                </a:lnTo>
                <a:arcTo hR="88900" wR="152400" stAng="0" swAng="-5400000"/>
                <a:lnTo>
                  <a:pt x="152400" y="63500"/>
                </a:lnTo>
                <a:arcTo hR="88900" wR="152400" stAng="16200000" swAng="-5400000"/>
                <a:close/>
              </a:path>
            </a:pathLst>
          </a:custGeom>
          <a:solidFill>
            <a:srgbClr val="D63A7A"/>
          </a:solidFill>
          <a:ln/>
        </p:spPr>
      </p:sp>
      <p:sp>
        <p:nvSpPr>
          <p:cNvPr id="10" name="Text 8"/>
          <p:cNvSpPr/>
          <p:nvPr/>
        </p:nvSpPr>
        <p:spPr>
          <a:xfrm>
            <a:off x="6413500" y="1847850"/>
            <a:ext cx="4879213" cy="25400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B"/>
                </a:solidFill>
                <a:latin typeface="Poppins" pitchFamily="34" charset="0"/>
                <a:ea typeface="Poppins" pitchFamily="34" charset="-122"/>
                <a:cs typeface="Poppins" pitchFamily="34" charset="-120"/>
              </a:rPr>
              <a:t>2 · Half the artists have only one song</a:t>
            </a:r>
            <a:endParaRPr lang="en-US" sz="1400" dirty="0"/>
          </a:p>
        </p:txBody>
      </p:sp>
      <p:sp>
        <p:nvSpPr>
          <p:cNvPr id="11" name="Text 9"/>
          <p:cNvSpPr/>
          <p:nvPr/>
        </p:nvSpPr>
        <p:spPr>
          <a:xfrm>
            <a:off x="6413500" y="2152650"/>
            <a:ext cx="4879213" cy="4572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ED3"/>
                </a:solidFill>
                <a:latin typeface="Poppins" pitchFamily="34" charset="0"/>
                <a:ea typeface="Poppins" pitchFamily="34" charset="-122"/>
                <a:cs typeface="Poppins" pitchFamily="34" charset="-120"/>
              </a:rPr>
              <a:t>1,198 of 2,309 artists have one song; one artist has 208. Two songs by the same artist always sound alike.</a:t>
            </a:r>
            <a:endParaRPr lang="en-US" sz="1200" dirty="0"/>
          </a:p>
        </p:txBody>
      </p:sp>
      <p:sp>
        <p:nvSpPr>
          <p:cNvPr id="12" name="Text 10"/>
          <p:cNvSpPr/>
          <p:nvPr/>
        </p:nvSpPr>
        <p:spPr>
          <a:xfrm>
            <a:off x="6413500" y="2660650"/>
            <a:ext cx="4879213" cy="24130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C8F041"/>
                </a:solidFill>
                <a:latin typeface="Poppins" pitchFamily="34" charset="0"/>
                <a:ea typeface="Poppins" pitchFamily="34" charset="-122"/>
                <a:cs typeface="Poppins" pitchFamily="34" charset="-120"/>
              </a:rPr>
              <a:t>So:</a:t>
            </a:r>
            <a:r>
              <a:rPr lang="en-US" sz="1200" dirty="0">
                <a:solidFill>
                  <a:srgbClr val="F6F3EB"/>
                </a:solidFill>
                <a:latin typeface="Poppins" pitchFamily="34" charset="0"/>
                <a:ea typeface="Poppins" pitchFamily="34" charset="-122"/>
                <a:cs typeface="Poppins" pitchFamily="34" charset="-120"/>
              </a:rPr>
              <a:t> we never test two songs by the same artist.</a:t>
            </a:r>
            <a:endParaRPr lang="en-US" sz="1200" dirty="0"/>
          </a:p>
        </p:txBody>
      </p:sp>
      <p:sp>
        <p:nvSpPr>
          <p:cNvPr id="13" name="Shape 11"/>
          <p:cNvSpPr/>
          <p:nvPr/>
        </p:nvSpPr>
        <p:spPr>
          <a:xfrm>
            <a:off x="812800" y="3908425"/>
            <a:ext cx="5194300" cy="2136775"/>
          </a:xfrm>
          <a:prstGeom prst="roundRect">
            <a:avLst>
              <a:gd name="adj" fmla="val 7132"/>
            </a:avLst>
          </a:prstGeom>
          <a:solidFill>
            <a:srgbClr val="232842"/>
          </a:solidFill>
          <a:ln/>
        </p:spPr>
      </p:sp>
      <p:sp>
        <p:nvSpPr>
          <p:cNvPr id="14" name="Shape 12"/>
          <p:cNvSpPr/>
          <p:nvPr/>
        </p:nvSpPr>
        <p:spPr>
          <a:xfrm>
            <a:off x="812800" y="3908425"/>
            <a:ext cx="5194300" cy="2136775"/>
          </a:xfrm>
          <a:custGeom>
            <a:avLst/>
            <a:gdLst/>
            <a:ahLst/>
            <a:cxnLst/>
            <a:rect l="l" t="t" r="r" b="b"/>
            <a:pathLst>
              <a:path w="5194300" h="2136775">
                <a:moveTo>
                  <a:pt x="0" y="152400"/>
                </a:moveTo>
                <a:lnTo>
                  <a:pt x="0" y="152400"/>
                </a:lnTo>
                <a:arcTo hR="152400" wR="152400" stAng="10800000" swAng="5400000"/>
                <a:lnTo>
                  <a:pt x="5041900" y="0"/>
                </a:lnTo>
                <a:arcTo hR="152400" wR="152400" stAng="16200000" swAng="5400000"/>
                <a:lnTo>
                  <a:pt x="5194300" y="152400"/>
                </a:lnTo>
                <a:arcTo hR="88900" wR="152400" stAng="0" swAng="-5400000"/>
                <a:lnTo>
                  <a:pt x="152400" y="63500"/>
                </a:lnTo>
                <a:arcTo hR="88900" wR="152400" stAng="16200000" swAng="-5400000"/>
                <a:close/>
              </a:path>
            </a:pathLst>
          </a:custGeom>
          <a:solidFill>
            <a:srgbClr val="E07B1F"/>
          </a:solidFill>
          <a:ln/>
        </p:spPr>
      </p:sp>
      <p:sp>
        <p:nvSpPr>
          <p:cNvPr id="15" name="Text 13"/>
          <p:cNvSpPr/>
          <p:nvPr/>
        </p:nvSpPr>
        <p:spPr>
          <a:xfrm>
            <a:off x="1041400" y="4162425"/>
            <a:ext cx="4879213" cy="25400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B"/>
                </a:solidFill>
                <a:latin typeface="Poppins" pitchFamily="34" charset="0"/>
                <a:ea typeface="Poppins" pitchFamily="34" charset="-122"/>
                <a:cs typeface="Poppins" pitchFamily="34" charset="-120"/>
              </a:rPr>
              <a:t>3 · The big catalogue is mostly Rock and Electronic</a:t>
            </a:r>
            <a:endParaRPr lang="en-US" sz="1400" dirty="0"/>
          </a:p>
        </p:txBody>
      </p:sp>
      <p:sp>
        <p:nvSpPr>
          <p:cNvPr id="16" name="Text 14"/>
          <p:cNvSpPr/>
          <p:nvPr/>
        </p:nvSpPr>
        <p:spPr>
          <a:xfrm>
            <a:off x="1041400" y="4467225"/>
            <a:ext cx="4879213" cy="6731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ED3"/>
                </a:solidFill>
                <a:latin typeface="Poppins" pitchFamily="34" charset="0"/>
                <a:ea typeface="Poppins" pitchFamily="34" charset="-122"/>
                <a:cs typeface="Poppins" pitchFamily="34" charset="-120"/>
              </a:rPr>
              <a:t>The small set (our baseline) is balanced. The big one, used by the live app, is not: Rock and Electronic are 54% of its 25,000 songs.</a:t>
            </a:r>
            <a:endParaRPr lang="en-US" sz="1200" dirty="0"/>
          </a:p>
        </p:txBody>
      </p:sp>
      <p:sp>
        <p:nvSpPr>
          <p:cNvPr id="17" name="Text 15"/>
          <p:cNvSpPr/>
          <p:nvPr/>
        </p:nvSpPr>
        <p:spPr>
          <a:xfrm>
            <a:off x="1041400" y="5191125"/>
            <a:ext cx="4879213" cy="45720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C8F041"/>
                </a:solidFill>
                <a:latin typeface="Poppins" pitchFamily="34" charset="0"/>
                <a:ea typeface="Poppins" pitchFamily="34" charset="-122"/>
                <a:cs typeface="Poppins" pitchFamily="34" charset="-120"/>
              </a:rPr>
              <a:t>So:</a:t>
            </a:r>
            <a:r>
              <a:rPr lang="en-US" sz="1200" dirty="0">
                <a:solidFill>
                  <a:srgbClr val="F6F3EB"/>
                </a:solidFill>
                <a:latin typeface="Poppins" pitchFamily="34" charset="0"/>
                <a:ea typeface="Poppins" pitchFamily="34" charset="-122"/>
                <a:cs typeface="Poppins" pitchFamily="34" charset="-120"/>
              </a:rPr>
              <a:t> in the live-app test we picked one song per genre, and the Bridge step limits how many songs of one genre it shows.</a:t>
            </a:r>
            <a:endParaRPr lang="en-US" sz="1200" dirty="0"/>
          </a:p>
        </p:txBody>
      </p:sp>
      <p:sp>
        <p:nvSpPr>
          <p:cNvPr id="18" name="Shape 16"/>
          <p:cNvSpPr/>
          <p:nvPr/>
        </p:nvSpPr>
        <p:spPr>
          <a:xfrm>
            <a:off x="6184900" y="3908425"/>
            <a:ext cx="5194300" cy="2136775"/>
          </a:xfrm>
          <a:prstGeom prst="roundRect">
            <a:avLst>
              <a:gd name="adj" fmla="val 7132"/>
            </a:avLst>
          </a:prstGeom>
          <a:solidFill>
            <a:srgbClr val="232842"/>
          </a:solidFill>
          <a:ln/>
        </p:spPr>
      </p:sp>
      <p:sp>
        <p:nvSpPr>
          <p:cNvPr id="19" name="Shape 17"/>
          <p:cNvSpPr/>
          <p:nvPr/>
        </p:nvSpPr>
        <p:spPr>
          <a:xfrm>
            <a:off x="6184900" y="3908425"/>
            <a:ext cx="5194300" cy="2136775"/>
          </a:xfrm>
          <a:custGeom>
            <a:avLst/>
            <a:gdLst/>
            <a:ahLst/>
            <a:cxnLst/>
            <a:rect l="l" t="t" r="r" b="b"/>
            <a:pathLst>
              <a:path w="5194300" h="2136775">
                <a:moveTo>
                  <a:pt x="0" y="152400"/>
                </a:moveTo>
                <a:lnTo>
                  <a:pt x="0" y="152400"/>
                </a:lnTo>
                <a:arcTo hR="152400" wR="152400" stAng="10800000" swAng="5400000"/>
                <a:lnTo>
                  <a:pt x="5041900" y="0"/>
                </a:lnTo>
                <a:arcTo hR="152400" wR="152400" stAng="16200000" swAng="5400000"/>
                <a:lnTo>
                  <a:pt x="5194300" y="152400"/>
                </a:lnTo>
                <a:arcTo hR="88900" wR="152400" stAng="0" swAng="-5400000"/>
                <a:lnTo>
                  <a:pt x="152400" y="63500"/>
                </a:lnTo>
                <a:arcTo hR="88900" wR="152400" stAng="16200000" swAng="-5400000"/>
                <a:close/>
              </a:path>
            </a:pathLst>
          </a:custGeom>
          <a:solidFill>
            <a:srgbClr val="C8F041"/>
          </a:solidFill>
          <a:ln/>
        </p:spPr>
      </p:sp>
      <p:sp>
        <p:nvSpPr>
          <p:cNvPr id="20" name="Text 18"/>
          <p:cNvSpPr/>
          <p:nvPr/>
        </p:nvSpPr>
        <p:spPr>
          <a:xfrm>
            <a:off x="6413500" y="4162425"/>
            <a:ext cx="4879213" cy="25400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6F3EB"/>
                </a:solidFill>
                <a:latin typeface="Poppins" pitchFamily="34" charset="0"/>
                <a:ea typeface="Poppins" pitchFamily="34" charset="-122"/>
                <a:cs typeface="Poppins" pitchFamily="34" charset="-120"/>
              </a:rPr>
              <a:t>4 · A genre name does not tell you the sound</a:t>
            </a:r>
            <a:endParaRPr lang="en-US" sz="1400" dirty="0"/>
          </a:p>
        </p:txBody>
      </p:sp>
      <p:sp>
        <p:nvSpPr>
          <p:cNvPr id="21" name="Text 19"/>
          <p:cNvSpPr/>
          <p:nvPr/>
        </p:nvSpPr>
        <p:spPr>
          <a:xfrm>
            <a:off x="6413500" y="4467225"/>
            <a:ext cx="4879213" cy="45720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B9BED3"/>
                </a:solidFill>
                <a:latin typeface="Poppins" pitchFamily="34" charset="0"/>
                <a:ea typeface="Poppins" pitchFamily="34" charset="-122"/>
                <a:cs typeface="Poppins" pitchFamily="34" charset="-120"/>
              </a:rPr>
              <a:t>“Pop” is a market label. Two Rock songs can sound nothing alike, and a Jazz and a Folk song can sound close.</a:t>
            </a:r>
            <a:endParaRPr lang="en-US" sz="1200" dirty="0"/>
          </a:p>
        </p:txBody>
      </p:sp>
      <p:sp>
        <p:nvSpPr>
          <p:cNvPr id="22" name="Text 20"/>
          <p:cNvSpPr/>
          <p:nvPr/>
        </p:nvSpPr>
        <p:spPr>
          <a:xfrm>
            <a:off x="6413500" y="4975225"/>
            <a:ext cx="4879213" cy="457200"/>
          </a:xfrm>
          <a:prstGeom prst="rect">
            <a:avLst/>
          </a:prstGeom>
          <a:noFill/>
          <a:ln/>
        </p:spPr>
        <p:txBody>
          <a:bodyPr wrap="square" lIns="0" tIns="0" rIns="0" bIns="0" rtlCol="0" anchor="t">
            <a:normAutofit/>
          </a:bodyPr>
          <a:lstStyle/>
          <a:p>
            <a:pPr algn="l" indent="0" marL="0">
              <a:lnSpc>
                <a:spcPts val="1740"/>
              </a:lnSpc>
              <a:buNone/>
            </a:pPr>
            <a:r>
              <a:rPr lang="en-US" sz="1200" b="1" dirty="0">
                <a:solidFill>
                  <a:srgbClr val="C8F041"/>
                </a:solidFill>
                <a:latin typeface="Poppins" pitchFamily="34" charset="0"/>
                <a:ea typeface="Poppins" pitchFamily="34" charset="-122"/>
                <a:cs typeface="Poppins" pitchFamily="34" charset="-120"/>
              </a:rPr>
              <a:t>So:</a:t>
            </a:r>
            <a:r>
              <a:rPr lang="en-US" sz="1200" dirty="0">
                <a:solidFill>
                  <a:srgbClr val="F6F3EB"/>
                </a:solidFill>
                <a:latin typeface="Poppins" pitchFamily="34" charset="0"/>
                <a:ea typeface="Poppins" pitchFamily="34" charset="-122"/>
                <a:cs typeface="Poppins" pitchFamily="34" charset="-120"/>
              </a:rPr>
              <a:t> genre is only a rough check. People's ears decide what sounds alike.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71B2E"/>
                </a:solidFill>
                <a:latin typeface="Unbounded" pitchFamily="34" charset="0"/>
                <a:ea typeface="Unbounded" pitchFamily="34" charset="-122"/>
                <a:cs typeface="Unbounded" pitchFamily="34" charset="-120"/>
              </a:rPr>
              <a:t>FROM BASELINE TO EFFNET</a:t>
            </a:r>
            <a:endParaRPr lang="en-US" sz="3600" dirty="0"/>
          </a:p>
        </p:txBody>
      </p:sp>
      <p:sp>
        <p:nvSpPr>
          <p:cNvPr id="3" name="Text 1"/>
          <p:cNvSpPr/>
          <p:nvPr/>
        </p:nvSpPr>
        <p:spPr>
          <a:xfrm>
            <a:off x="812800" y="1517650"/>
            <a:ext cx="10883392" cy="27940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4A4F63"/>
                </a:solidFill>
                <a:latin typeface="Poppins" pitchFamily="34" charset="0"/>
                <a:ea typeface="Poppins" pitchFamily="34" charset="-122"/>
                <a:cs typeface="Poppins" pitchFamily="34" charset="-120"/>
              </a:rPr>
              <a:t>Each step was kept or dropped by what listeners heard, not by a genre score.</a:t>
            </a:r>
            <a:endParaRPr lang="en-US" sz="1500" dirty="0"/>
          </a:p>
        </p:txBody>
      </p:sp>
      <p:sp>
        <p:nvSpPr>
          <p:cNvPr id="4" name="Shape 2"/>
          <p:cNvSpPr/>
          <p:nvPr/>
        </p:nvSpPr>
        <p:spPr>
          <a:xfrm>
            <a:off x="812800" y="2000250"/>
            <a:ext cx="1657350" cy="4044950"/>
          </a:xfrm>
          <a:prstGeom prst="roundRect">
            <a:avLst>
              <a:gd name="adj" fmla="val 8429"/>
            </a:avLst>
          </a:prstGeom>
          <a:solidFill>
            <a:srgbClr val="2F6FE4"/>
          </a:solidFill>
          <a:ln/>
        </p:spPr>
      </p:sp>
      <p:sp>
        <p:nvSpPr>
          <p:cNvPr id="5" name="Text 3"/>
          <p:cNvSpPr/>
          <p:nvPr/>
        </p:nvSpPr>
        <p:spPr>
          <a:xfrm>
            <a:off x="952500" y="2178050"/>
            <a:ext cx="1428750"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BFAF5"/>
                </a:solidFill>
                <a:latin typeface="Poppins" pitchFamily="34" charset="0"/>
                <a:ea typeface="Poppins" pitchFamily="34" charset="-122"/>
                <a:cs typeface="Poppins" pitchFamily="34" charset="-120"/>
              </a:rPr>
              <a:t>01 · BUILT</a:t>
            </a:r>
            <a:endParaRPr lang="en-US" sz="1200" dirty="0"/>
          </a:p>
        </p:txBody>
      </p:sp>
      <p:sp>
        <p:nvSpPr>
          <p:cNvPr id="6" name="Text 4"/>
          <p:cNvSpPr/>
          <p:nvPr/>
        </p:nvSpPr>
        <p:spPr>
          <a:xfrm>
            <a:off x="952500" y="2463800"/>
            <a:ext cx="1428750" cy="22860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BFAF5"/>
                </a:solidFill>
                <a:latin typeface="Unbounded" pitchFamily="34" charset="0"/>
                <a:ea typeface="Unbounded" pitchFamily="34" charset="-122"/>
                <a:cs typeface="Unbounded" pitchFamily="34" charset="-120"/>
              </a:rPr>
              <a:t>BASELINE</a:t>
            </a:r>
            <a:endParaRPr lang="en-US" sz="1400" dirty="0"/>
          </a:p>
        </p:txBody>
      </p:sp>
      <p:sp>
        <p:nvSpPr>
          <p:cNvPr id="7" name="Text 5"/>
          <p:cNvSpPr/>
          <p:nvPr/>
        </p:nvSpPr>
        <p:spPr>
          <a:xfrm>
            <a:off x="952500" y="2743200"/>
            <a:ext cx="1428750" cy="6350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BFAF5"/>
                </a:solidFill>
                <a:latin typeface="Poppins" pitchFamily="34" charset="0"/>
                <a:ea typeface="Poppins" pitchFamily="34" charset="-122"/>
                <a:cs typeface="Poppins" pitchFamily="34" charset="-120"/>
              </a:rPr>
              <a:t>518 features, PCA, closest songs by cosine.</a:t>
            </a:r>
            <a:endParaRPr lang="en-US" sz="1200" dirty="0"/>
          </a:p>
        </p:txBody>
      </p:sp>
      <p:sp>
        <p:nvSpPr>
          <p:cNvPr id="8" name="Text 6"/>
          <p:cNvSpPr/>
          <p:nvPr/>
        </p:nvSpPr>
        <p:spPr>
          <a:xfrm>
            <a:off x="952500" y="5473700"/>
            <a:ext cx="1428750" cy="41910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BFAF5"/>
                </a:solidFill>
                <a:latin typeface="Poppins" pitchFamily="34" charset="0"/>
                <a:ea typeface="Poppins" pitchFamily="34" charset="-122"/>
                <a:cs typeface="Poppins" pitchFamily="34" charset="-120"/>
              </a:rPr>
              <a:t>Judged by genre only</a:t>
            </a:r>
            <a:endParaRPr lang="en-US" sz="1200" dirty="0"/>
          </a:p>
        </p:txBody>
      </p:sp>
      <p:sp>
        <p:nvSpPr>
          <p:cNvPr id="9" name="Shape 7"/>
          <p:cNvSpPr/>
          <p:nvPr/>
        </p:nvSpPr>
        <p:spPr>
          <a:xfrm>
            <a:off x="2584450" y="2000250"/>
            <a:ext cx="1657350" cy="4044950"/>
          </a:xfrm>
          <a:prstGeom prst="roundRect">
            <a:avLst>
              <a:gd name="adj" fmla="val 8429"/>
            </a:avLst>
          </a:prstGeom>
          <a:solidFill>
            <a:srgbClr val="D63A7A"/>
          </a:solidFill>
          <a:ln/>
        </p:spPr>
      </p:sp>
      <p:sp>
        <p:nvSpPr>
          <p:cNvPr id="10" name="Text 8"/>
          <p:cNvSpPr/>
          <p:nvPr/>
        </p:nvSpPr>
        <p:spPr>
          <a:xfrm>
            <a:off x="2724150" y="2178050"/>
            <a:ext cx="1428750"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BFAF5"/>
                </a:solidFill>
                <a:latin typeface="Poppins" pitchFamily="34" charset="0"/>
                <a:ea typeface="Poppins" pitchFamily="34" charset="-122"/>
                <a:cs typeface="Poppins" pitchFamily="34" charset="-120"/>
              </a:rPr>
              <a:t>02 · TESTED</a:t>
            </a:r>
            <a:endParaRPr lang="en-US" sz="1200" dirty="0"/>
          </a:p>
        </p:txBody>
      </p:sp>
      <p:sp>
        <p:nvSpPr>
          <p:cNvPr id="11" name="Text 9"/>
          <p:cNvSpPr/>
          <p:nvPr/>
        </p:nvSpPr>
        <p:spPr>
          <a:xfrm>
            <a:off x="2724150" y="2463800"/>
            <a:ext cx="1428750" cy="22860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BFAF5"/>
                </a:solidFill>
                <a:latin typeface="Unbounded" pitchFamily="34" charset="0"/>
                <a:ea typeface="Unbounded" pitchFamily="34" charset="-122"/>
                <a:cs typeface="Unbounded" pitchFamily="34" charset="-120"/>
              </a:rPr>
              <a:t>ROUND 1</a:t>
            </a:r>
            <a:endParaRPr lang="en-US" sz="1400" dirty="0"/>
          </a:p>
        </p:txBody>
      </p:sp>
      <p:sp>
        <p:nvSpPr>
          <p:cNvPr id="12" name="Text 10"/>
          <p:cNvSpPr/>
          <p:nvPr/>
        </p:nvSpPr>
        <p:spPr>
          <a:xfrm>
            <a:off x="2724150" y="2743200"/>
            <a:ext cx="1428750" cy="8382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BFAF5"/>
                </a:solidFill>
                <a:latin typeface="Poppins" pitchFamily="34" charset="0"/>
                <a:ea typeface="Poppins" pitchFamily="34" charset="-122"/>
                <a:cs typeface="Poppins" pitchFamily="34" charset="-120"/>
              </a:rPr>
              <a:t>People rate the baseline's songs. 2.96 vs random 1.87.</a:t>
            </a:r>
            <a:endParaRPr lang="en-US" sz="1200" dirty="0"/>
          </a:p>
        </p:txBody>
      </p:sp>
      <p:sp>
        <p:nvSpPr>
          <p:cNvPr id="13" name="Text 11"/>
          <p:cNvSpPr/>
          <p:nvPr/>
        </p:nvSpPr>
        <p:spPr>
          <a:xfrm>
            <a:off x="2724150" y="5276850"/>
            <a:ext cx="1428750" cy="61595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BFAF5"/>
                </a:solidFill>
                <a:latin typeface="Poppins" pitchFamily="34" charset="0"/>
                <a:ea typeface="Poppins" pitchFamily="34" charset="-122"/>
                <a:cs typeface="Poppins" pitchFamily="34" charset="-120"/>
              </a:rPr>
              <a:t>People hear rhythm and drums, not genre</a:t>
            </a:r>
            <a:endParaRPr lang="en-US" sz="1200" dirty="0"/>
          </a:p>
        </p:txBody>
      </p:sp>
      <p:sp>
        <p:nvSpPr>
          <p:cNvPr id="14" name="Shape 12"/>
          <p:cNvSpPr/>
          <p:nvPr/>
        </p:nvSpPr>
        <p:spPr>
          <a:xfrm>
            <a:off x="4368800" y="2012950"/>
            <a:ext cx="1682750" cy="4019550"/>
          </a:xfrm>
          <a:prstGeom prst="roundRect">
            <a:avLst>
              <a:gd name="adj" fmla="val 7547"/>
            </a:avLst>
          </a:prstGeom>
          <a:solidFill>
            <a:srgbClr val="FBFAF5"/>
          </a:solidFill>
          <a:ln w="25400">
            <a:solidFill>
              <a:srgbClr val="D63A7A"/>
            </a:solidFill>
            <a:prstDash val="solid"/>
          </a:ln>
        </p:spPr>
      </p:sp>
      <p:sp>
        <p:nvSpPr>
          <p:cNvPr id="15" name="Text 13"/>
          <p:cNvSpPr/>
          <p:nvPr/>
        </p:nvSpPr>
        <p:spPr>
          <a:xfrm>
            <a:off x="4521200" y="2203450"/>
            <a:ext cx="1428750"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D63A7A"/>
                </a:solidFill>
                <a:latin typeface="Poppins" pitchFamily="34" charset="0"/>
                <a:ea typeface="Poppins" pitchFamily="34" charset="-122"/>
                <a:cs typeface="Poppins" pitchFamily="34" charset="-120"/>
              </a:rPr>
              <a:t>03 · BUILT</a:t>
            </a:r>
            <a:endParaRPr lang="en-US" sz="1200" dirty="0"/>
          </a:p>
        </p:txBody>
      </p:sp>
      <p:sp>
        <p:nvSpPr>
          <p:cNvPr id="16" name="Text 14"/>
          <p:cNvSpPr/>
          <p:nvPr/>
        </p:nvSpPr>
        <p:spPr>
          <a:xfrm>
            <a:off x="4521200" y="2489200"/>
            <a:ext cx="1428750" cy="22860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171B2E"/>
                </a:solidFill>
                <a:latin typeface="Unbounded" pitchFamily="34" charset="0"/>
                <a:ea typeface="Unbounded" pitchFamily="34" charset="-122"/>
                <a:cs typeface="Unbounded" pitchFamily="34" charset="-120"/>
              </a:rPr>
              <a:t>“HEARD”</a:t>
            </a:r>
            <a:endParaRPr lang="en-US" sz="1400" dirty="0"/>
          </a:p>
        </p:txBody>
      </p:sp>
      <p:sp>
        <p:nvSpPr>
          <p:cNvPr id="17" name="Text 15"/>
          <p:cNvSpPr/>
          <p:nvPr/>
        </p:nvSpPr>
        <p:spPr>
          <a:xfrm>
            <a:off x="4521200" y="2768600"/>
            <a:ext cx="1428750" cy="8382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1B2E"/>
                </a:solidFill>
                <a:latin typeface="Poppins" pitchFamily="34" charset="0"/>
                <a:ea typeface="Poppins" pitchFamily="34" charset="-122"/>
                <a:cs typeface="Poppins" pitchFamily="34" charset="-120"/>
              </a:rPr>
              <a:t>Made from round 1's answers: rhythm + drums added.</a:t>
            </a:r>
            <a:endParaRPr lang="en-US" sz="1200" dirty="0"/>
          </a:p>
        </p:txBody>
      </p:sp>
      <p:sp>
        <p:nvSpPr>
          <p:cNvPr id="18" name="Text 16"/>
          <p:cNvSpPr/>
          <p:nvPr/>
        </p:nvSpPr>
        <p:spPr>
          <a:xfrm>
            <a:off x="4521200" y="5448300"/>
            <a:ext cx="1428750" cy="41910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71B2E"/>
                </a:solidFill>
                <a:latin typeface="Poppins" pitchFamily="34" charset="0"/>
                <a:ea typeface="Poppins" pitchFamily="34" charset="-122"/>
                <a:cs typeface="Poppins" pitchFamily="34" charset="-120"/>
              </a:rPr>
              <a:t>Fits round 1, but was built from it</a:t>
            </a:r>
            <a:endParaRPr lang="en-US" sz="1200" dirty="0"/>
          </a:p>
        </p:txBody>
      </p:sp>
      <p:sp>
        <p:nvSpPr>
          <p:cNvPr id="19" name="Shape 17"/>
          <p:cNvSpPr/>
          <p:nvPr/>
        </p:nvSpPr>
        <p:spPr>
          <a:xfrm>
            <a:off x="6178550" y="2000250"/>
            <a:ext cx="1657350" cy="4044950"/>
          </a:xfrm>
          <a:prstGeom prst="roundRect">
            <a:avLst>
              <a:gd name="adj" fmla="val 8429"/>
            </a:avLst>
          </a:prstGeom>
          <a:solidFill>
            <a:srgbClr val="E07B1F"/>
          </a:solidFill>
          <a:ln/>
        </p:spPr>
      </p:sp>
      <p:sp>
        <p:nvSpPr>
          <p:cNvPr id="20" name="Text 18"/>
          <p:cNvSpPr/>
          <p:nvPr/>
        </p:nvSpPr>
        <p:spPr>
          <a:xfrm>
            <a:off x="6318250" y="2178050"/>
            <a:ext cx="1428750"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71B2E"/>
                </a:solidFill>
                <a:latin typeface="Poppins" pitchFamily="34" charset="0"/>
                <a:ea typeface="Poppins" pitchFamily="34" charset="-122"/>
                <a:cs typeface="Poppins" pitchFamily="34" charset="-120"/>
              </a:rPr>
              <a:t>04 · TESTED</a:t>
            </a:r>
            <a:endParaRPr lang="en-US" sz="1200" dirty="0"/>
          </a:p>
        </p:txBody>
      </p:sp>
      <p:sp>
        <p:nvSpPr>
          <p:cNvPr id="21" name="Text 19"/>
          <p:cNvSpPr/>
          <p:nvPr/>
        </p:nvSpPr>
        <p:spPr>
          <a:xfrm>
            <a:off x="6318250" y="2463800"/>
            <a:ext cx="1428750" cy="22860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171B2E"/>
                </a:solidFill>
                <a:latin typeface="Unbounded" pitchFamily="34" charset="0"/>
                <a:ea typeface="Unbounded" pitchFamily="34" charset="-122"/>
                <a:cs typeface="Unbounded" pitchFamily="34" charset="-120"/>
              </a:rPr>
              <a:t>ROUND 2</a:t>
            </a:r>
            <a:endParaRPr lang="en-US" sz="1400" dirty="0"/>
          </a:p>
        </p:txBody>
      </p:sp>
      <p:sp>
        <p:nvSpPr>
          <p:cNvPr id="22" name="Text 20"/>
          <p:cNvSpPr/>
          <p:nvPr/>
        </p:nvSpPr>
        <p:spPr>
          <a:xfrm>
            <a:off x="6318250" y="2743200"/>
            <a:ext cx="1428750" cy="6350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1B2E"/>
                </a:solidFill>
                <a:latin typeface="Poppins" pitchFamily="34" charset="0"/>
                <a:ea typeface="Poppins" pitchFamily="34" charset="-122"/>
                <a:cs typeface="Poppins" pitchFamily="34" charset="-120"/>
              </a:rPr>
              <a:t>New songs: “heard” vs baseline.</a:t>
            </a:r>
            <a:endParaRPr lang="en-US" sz="1200" dirty="0"/>
          </a:p>
        </p:txBody>
      </p:sp>
      <p:sp>
        <p:nvSpPr>
          <p:cNvPr id="23" name="Text 21"/>
          <p:cNvSpPr/>
          <p:nvPr/>
        </p:nvSpPr>
        <p:spPr>
          <a:xfrm>
            <a:off x="6318250" y="5473700"/>
            <a:ext cx="1428750" cy="41910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71B2E"/>
                </a:solidFill>
                <a:latin typeface="Poppins" pitchFamily="34" charset="0"/>
                <a:ea typeface="Poppins" pitchFamily="34" charset="-122"/>
                <a:cs typeface="Poppins" pitchFamily="34" charset="-120"/>
              </a:rPr>
              <a:t>A tie: “heard” not better</a:t>
            </a:r>
            <a:endParaRPr lang="en-US" sz="1200" dirty="0"/>
          </a:p>
        </p:txBody>
      </p:sp>
      <p:sp>
        <p:nvSpPr>
          <p:cNvPr id="24" name="Shape 22"/>
          <p:cNvSpPr/>
          <p:nvPr/>
        </p:nvSpPr>
        <p:spPr>
          <a:xfrm>
            <a:off x="7950200" y="2000250"/>
            <a:ext cx="1657350" cy="4044950"/>
          </a:xfrm>
          <a:prstGeom prst="roundRect">
            <a:avLst>
              <a:gd name="adj" fmla="val 8429"/>
            </a:avLst>
          </a:prstGeom>
          <a:solidFill>
            <a:srgbClr val="C8F041"/>
          </a:solidFill>
          <a:ln/>
        </p:spPr>
      </p:sp>
      <p:sp>
        <p:nvSpPr>
          <p:cNvPr id="25" name="Text 23"/>
          <p:cNvSpPr/>
          <p:nvPr/>
        </p:nvSpPr>
        <p:spPr>
          <a:xfrm>
            <a:off x="8089900" y="2178050"/>
            <a:ext cx="1428750"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171B2E"/>
                </a:solidFill>
                <a:latin typeface="Poppins" pitchFamily="34" charset="0"/>
                <a:ea typeface="Poppins" pitchFamily="34" charset="-122"/>
                <a:cs typeface="Poppins" pitchFamily="34" charset="-120"/>
              </a:rPr>
              <a:t>05 · CHOSEN</a:t>
            </a:r>
            <a:endParaRPr lang="en-US" sz="1200" dirty="0"/>
          </a:p>
        </p:txBody>
      </p:sp>
      <p:sp>
        <p:nvSpPr>
          <p:cNvPr id="26" name="Text 24"/>
          <p:cNvSpPr/>
          <p:nvPr/>
        </p:nvSpPr>
        <p:spPr>
          <a:xfrm>
            <a:off x="8089900" y="2463800"/>
            <a:ext cx="1428750" cy="22860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171B2E"/>
                </a:solidFill>
                <a:latin typeface="Unbounded" pitchFamily="34" charset="0"/>
                <a:ea typeface="Unbounded" pitchFamily="34" charset="-122"/>
                <a:cs typeface="Unbounded" pitchFamily="34" charset="-120"/>
              </a:rPr>
              <a:t>EFFNET</a:t>
            </a:r>
            <a:endParaRPr lang="en-US" sz="1400" dirty="0"/>
          </a:p>
        </p:txBody>
      </p:sp>
      <p:sp>
        <p:nvSpPr>
          <p:cNvPr id="27" name="Text 25"/>
          <p:cNvSpPr/>
          <p:nvPr/>
        </p:nvSpPr>
        <p:spPr>
          <a:xfrm>
            <a:off x="8089900" y="2743200"/>
            <a:ext cx="1428750" cy="8382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71B2E"/>
                </a:solidFill>
                <a:latin typeface="Poppins" pitchFamily="34" charset="0"/>
                <a:ea typeface="Poppins" pitchFamily="34" charset="-122"/>
                <a:cs typeface="Poppins" pitchFamily="34" charset="-120"/>
              </a:rPr>
              <a:t>A pre-trained network, 1,280 numbers per song.</a:t>
            </a:r>
            <a:endParaRPr lang="en-US" sz="1200" dirty="0"/>
          </a:p>
        </p:txBody>
      </p:sp>
      <p:sp>
        <p:nvSpPr>
          <p:cNvPr id="28" name="Text 26"/>
          <p:cNvSpPr/>
          <p:nvPr/>
        </p:nvSpPr>
        <p:spPr>
          <a:xfrm>
            <a:off x="8089900" y="5276850"/>
            <a:ext cx="1428750" cy="61595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171B2E"/>
                </a:solidFill>
                <a:latin typeface="Poppins" pitchFamily="34" charset="0"/>
                <a:ea typeface="Poppins" pitchFamily="34" charset="-122"/>
                <a:cs typeface="Poppins" pitchFamily="34" charset="-120"/>
              </a:rPr>
              <a:t>Matched both rounds best → ships</a:t>
            </a:r>
            <a:endParaRPr lang="en-US" sz="1200" dirty="0"/>
          </a:p>
        </p:txBody>
      </p:sp>
      <p:sp>
        <p:nvSpPr>
          <p:cNvPr id="29" name="Shape 27"/>
          <p:cNvSpPr/>
          <p:nvPr/>
        </p:nvSpPr>
        <p:spPr>
          <a:xfrm>
            <a:off x="9721850" y="2000250"/>
            <a:ext cx="1657350" cy="4044950"/>
          </a:xfrm>
          <a:prstGeom prst="roundRect">
            <a:avLst>
              <a:gd name="adj" fmla="val 8429"/>
            </a:avLst>
          </a:prstGeom>
          <a:solidFill>
            <a:srgbClr val="171B2E"/>
          </a:solidFill>
          <a:ln/>
        </p:spPr>
      </p:sp>
      <p:sp>
        <p:nvSpPr>
          <p:cNvPr id="30" name="Text 28"/>
          <p:cNvSpPr/>
          <p:nvPr/>
        </p:nvSpPr>
        <p:spPr>
          <a:xfrm>
            <a:off x="9861550" y="2178050"/>
            <a:ext cx="1428750" cy="234950"/>
          </a:xfrm>
          <a:prstGeom prst="rect">
            <a:avLst/>
          </a:prstGeom>
          <a:noFill/>
          <a:ln/>
        </p:spPr>
        <p:txBody>
          <a:bodyPr wrap="square" lIns="0" tIns="0" rIns="0" bIns="0" rtlCol="0" anchor="t">
            <a:normAutofit/>
          </a:bodyPr>
          <a:lstStyle/>
          <a:p>
            <a:pPr algn="l" indent="0" marL="0">
              <a:lnSpc>
                <a:spcPts val="1680"/>
              </a:lnSpc>
              <a:buNone/>
            </a:pPr>
            <a:r>
              <a:rPr lang="en-US" sz="1200" b="1" spc="50" kern="0" dirty="0">
                <a:solidFill>
                  <a:srgbClr val="F6F3EB"/>
                </a:solidFill>
                <a:latin typeface="Poppins" pitchFamily="34" charset="0"/>
                <a:ea typeface="Poppins" pitchFamily="34" charset="-122"/>
                <a:cs typeface="Poppins" pitchFamily="34" charset="-120"/>
              </a:rPr>
              <a:t>06 · TESTED</a:t>
            </a:r>
            <a:endParaRPr lang="en-US" sz="1200" dirty="0"/>
          </a:p>
        </p:txBody>
      </p:sp>
      <p:sp>
        <p:nvSpPr>
          <p:cNvPr id="31" name="Text 29"/>
          <p:cNvSpPr/>
          <p:nvPr/>
        </p:nvSpPr>
        <p:spPr>
          <a:xfrm>
            <a:off x="9861550" y="2463800"/>
            <a:ext cx="1428750" cy="228600"/>
          </a:xfrm>
          <a:prstGeom prst="rect">
            <a:avLst/>
          </a:prstGeom>
          <a:noFill/>
          <a:ln/>
        </p:spPr>
        <p:txBody>
          <a:bodyPr wrap="square" lIns="0" tIns="0" rIns="0" bIns="0" rtlCol="0" anchor="t">
            <a:normAutofit/>
          </a:bodyPr>
          <a:lstStyle/>
          <a:p>
            <a:pPr algn="l" indent="0" marL="0">
              <a:lnSpc>
                <a:spcPts val="1610"/>
              </a:lnSpc>
              <a:buNone/>
            </a:pPr>
            <a:r>
              <a:rPr lang="en-US" sz="1400" b="1" dirty="0">
                <a:solidFill>
                  <a:srgbClr val="F6F3EB"/>
                </a:solidFill>
                <a:latin typeface="Unbounded" pitchFamily="34" charset="0"/>
                <a:ea typeface="Unbounded" pitchFamily="34" charset="-122"/>
                <a:cs typeface="Unbounded" pitchFamily="34" charset="-120"/>
              </a:rPr>
              <a:t>LIVE APP</a:t>
            </a:r>
            <a:endParaRPr lang="en-US" sz="1400" dirty="0"/>
          </a:p>
        </p:txBody>
      </p:sp>
      <p:sp>
        <p:nvSpPr>
          <p:cNvPr id="32" name="Text 30"/>
          <p:cNvSpPr/>
          <p:nvPr/>
        </p:nvSpPr>
        <p:spPr>
          <a:xfrm>
            <a:off x="9861550" y="2743200"/>
            <a:ext cx="1428750" cy="63500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6F3EB"/>
                </a:solidFill>
                <a:latin typeface="Poppins" pitchFamily="34" charset="0"/>
                <a:ea typeface="Poppins" pitchFamily="34" charset="-122"/>
                <a:cs typeface="Poppins" pitchFamily="34" charset="-120"/>
              </a:rPr>
              <a:t>Round 4: what the app recommends.</a:t>
            </a:r>
            <a:endParaRPr lang="en-US" sz="1200" dirty="0"/>
          </a:p>
        </p:txBody>
      </p:sp>
      <p:sp>
        <p:nvSpPr>
          <p:cNvPr id="33" name="Text 31"/>
          <p:cNvSpPr/>
          <p:nvPr/>
        </p:nvSpPr>
        <p:spPr>
          <a:xfrm>
            <a:off x="9861550" y="5473700"/>
            <a:ext cx="1428750" cy="41910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F6F3EB"/>
                </a:solidFill>
                <a:latin typeface="Poppins" pitchFamily="34" charset="0"/>
                <a:ea typeface="Poppins" pitchFamily="34" charset="-122"/>
                <a:cs typeface="Poppins" pitchFamily="34" charset="-120"/>
              </a:rPr>
              <a:t>Home, Bridge OK; Adventure too far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71B2E"/>
                </a:solidFill>
                <a:latin typeface="Unbounded" pitchFamily="34" charset="0"/>
                <a:ea typeface="Unbounded" pitchFamily="34" charset="-122"/>
                <a:cs typeface="Unbounded" pitchFamily="34" charset="-120"/>
              </a:rPr>
              <a:t>THE PATH · 1 BUILD</a:t>
            </a:r>
            <a:endParaRPr lang="en-US" sz="3600" dirty="0"/>
          </a:p>
        </p:txBody>
      </p:sp>
      <p:sp>
        <p:nvSpPr>
          <p:cNvPr id="3" name="Shape 1"/>
          <p:cNvSpPr/>
          <p:nvPr/>
        </p:nvSpPr>
        <p:spPr>
          <a:xfrm>
            <a:off x="819150" y="1549400"/>
            <a:ext cx="2514600" cy="4286250"/>
          </a:xfrm>
          <a:prstGeom prst="roundRect">
            <a:avLst>
              <a:gd name="adj" fmla="val 4798"/>
            </a:avLst>
          </a:prstGeom>
          <a:solidFill>
            <a:srgbClr val="FBFAF5"/>
          </a:solidFill>
          <a:ln w="12700">
            <a:solidFill>
              <a:srgbClr val="171B2E"/>
            </a:solidFill>
            <a:prstDash val="solid"/>
          </a:ln>
        </p:spPr>
      </p:sp>
      <p:sp>
        <p:nvSpPr>
          <p:cNvPr id="4" name="Text 2"/>
          <p:cNvSpPr/>
          <p:nvPr/>
        </p:nvSpPr>
        <p:spPr>
          <a:xfrm>
            <a:off x="990600" y="1733550"/>
            <a:ext cx="2236851"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4"/>
                </a:solidFill>
                <a:latin typeface="Poppins" pitchFamily="34" charset="0"/>
                <a:ea typeface="Poppins" pitchFamily="34" charset="-122"/>
                <a:cs typeface="Poppins" pitchFamily="34" charset="-120"/>
              </a:rPr>
              <a:t>STEP 0</a:t>
            </a:r>
            <a:endParaRPr lang="en-US" sz="1200" dirty="0"/>
          </a:p>
        </p:txBody>
      </p:sp>
      <p:sp>
        <p:nvSpPr>
          <p:cNvPr id="5" name="Text 3"/>
          <p:cNvSpPr/>
          <p:nvPr/>
        </p:nvSpPr>
        <p:spPr>
          <a:xfrm>
            <a:off x="990600" y="2019300"/>
            <a:ext cx="2236851"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B2E"/>
                </a:solidFill>
                <a:latin typeface="Unbounded" pitchFamily="34" charset="0"/>
                <a:ea typeface="Unbounded" pitchFamily="34" charset="-122"/>
                <a:cs typeface="Unbounded" pitchFamily="34" charset="-120"/>
              </a:rPr>
              <a:t>THE PROBLEM</a:t>
            </a:r>
            <a:endParaRPr lang="en-US" sz="1400" dirty="0"/>
          </a:p>
        </p:txBody>
      </p:sp>
      <p:sp>
        <p:nvSpPr>
          <p:cNvPr id="6" name="Text 4"/>
          <p:cNvSpPr/>
          <p:nvPr/>
        </p:nvSpPr>
        <p:spPr>
          <a:xfrm>
            <a:off x="990600" y="2305050"/>
            <a:ext cx="2236851"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An app where you choose how far to travel from a track.</a:t>
            </a:r>
            <a:endParaRPr lang="en-US" sz="1200" dirty="0"/>
          </a:p>
        </p:txBody>
      </p:sp>
      <p:sp>
        <p:nvSpPr>
          <p:cNvPr id="7" name="Text 5"/>
          <p:cNvSpPr/>
          <p:nvPr/>
        </p:nvSpPr>
        <p:spPr>
          <a:xfrm>
            <a:off x="990600" y="3009900"/>
            <a:ext cx="2236851"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63"/>
                </a:solidFill>
                <a:latin typeface="Poppins" pitchFamily="34" charset="0"/>
                <a:ea typeface="Poppins" pitchFamily="34" charset="-122"/>
                <a:cs typeface="Poppins" pitchFamily="34" charset="-120"/>
              </a:rPr>
              <a:t>Why:</a:t>
            </a:r>
            <a:r>
              <a:rPr lang="en-US" sz="1200" dirty="0">
                <a:solidFill>
                  <a:srgbClr val="4A4F63"/>
                </a:solidFill>
                <a:latin typeface="Poppins" pitchFamily="34" charset="0"/>
                <a:ea typeface="Poppins" pitchFamily="34" charset="-122"/>
                <a:cs typeface="Poppins" pitchFamily="34" charset="-120"/>
              </a:rPr>
              <a:t> feeds are either too familiar or too random.</a:t>
            </a:r>
            <a:endParaRPr lang="en-US" sz="1200" dirty="0"/>
          </a:p>
        </p:txBody>
      </p:sp>
      <p:sp>
        <p:nvSpPr>
          <p:cNvPr id="8" name="Shape 6"/>
          <p:cNvSpPr/>
          <p:nvPr/>
        </p:nvSpPr>
        <p:spPr>
          <a:xfrm>
            <a:off x="990600" y="4864100"/>
            <a:ext cx="2171700" cy="787400"/>
          </a:xfrm>
          <a:prstGeom prst="roundRect">
            <a:avLst>
              <a:gd name="adj" fmla="val 11290"/>
            </a:avLst>
          </a:prstGeom>
          <a:solidFill>
            <a:srgbClr val="171B2E"/>
          </a:solidFill>
          <a:ln/>
        </p:spPr>
      </p:sp>
      <p:sp>
        <p:nvSpPr>
          <p:cNvPr id="9" name="Text 7"/>
          <p:cNvSpPr/>
          <p:nvPr/>
        </p:nvSpPr>
        <p:spPr>
          <a:xfrm>
            <a:off x="1104900" y="4953000"/>
            <a:ext cx="2001393" cy="6350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6F3EB"/>
                </a:solidFill>
                <a:latin typeface="Poppins" pitchFamily="34" charset="0"/>
                <a:ea typeface="Poppins" pitchFamily="34" charset="-122"/>
                <a:cs typeface="Poppins" pitchFamily="34" charset="-120"/>
              </a:rPr>
              <a:t>→ Promise: similar in sound, distance in your hands</a:t>
            </a:r>
            <a:endParaRPr lang="en-US" sz="1200" dirty="0"/>
          </a:p>
        </p:txBody>
      </p:sp>
      <p:sp>
        <p:nvSpPr>
          <p:cNvPr id="10" name="Shape 8"/>
          <p:cNvSpPr/>
          <p:nvPr/>
        </p:nvSpPr>
        <p:spPr>
          <a:xfrm>
            <a:off x="3498850" y="1549400"/>
            <a:ext cx="2514600" cy="4286250"/>
          </a:xfrm>
          <a:prstGeom prst="roundRect">
            <a:avLst>
              <a:gd name="adj" fmla="val 4798"/>
            </a:avLst>
          </a:prstGeom>
          <a:solidFill>
            <a:srgbClr val="FBFAF5"/>
          </a:solidFill>
          <a:ln w="12700">
            <a:solidFill>
              <a:srgbClr val="171B2E"/>
            </a:solidFill>
            <a:prstDash val="solid"/>
          </a:ln>
        </p:spPr>
      </p:sp>
      <p:sp>
        <p:nvSpPr>
          <p:cNvPr id="11" name="Text 9"/>
          <p:cNvSpPr/>
          <p:nvPr/>
        </p:nvSpPr>
        <p:spPr>
          <a:xfrm>
            <a:off x="3670300" y="1733550"/>
            <a:ext cx="2236851"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4"/>
                </a:solidFill>
                <a:latin typeface="Poppins" pitchFamily="34" charset="0"/>
                <a:ea typeface="Poppins" pitchFamily="34" charset="-122"/>
                <a:cs typeface="Poppins" pitchFamily="34" charset="-120"/>
              </a:rPr>
              <a:t>STEP 1</a:t>
            </a:r>
            <a:endParaRPr lang="en-US" sz="1200" dirty="0"/>
          </a:p>
        </p:txBody>
      </p:sp>
      <p:sp>
        <p:nvSpPr>
          <p:cNvPr id="12" name="Text 10"/>
          <p:cNvSpPr/>
          <p:nvPr/>
        </p:nvSpPr>
        <p:spPr>
          <a:xfrm>
            <a:off x="3670300" y="2019300"/>
            <a:ext cx="2236851"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B2E"/>
                </a:solidFill>
                <a:latin typeface="Unbounded" pitchFamily="34" charset="0"/>
                <a:ea typeface="Unbounded" pitchFamily="34" charset="-122"/>
                <a:cs typeface="Unbounded" pitchFamily="34" charset="-120"/>
              </a:rPr>
              <a:t>THE DATA</a:t>
            </a:r>
            <a:endParaRPr lang="en-US" sz="1400" dirty="0"/>
          </a:p>
        </p:txBody>
      </p:sp>
      <p:sp>
        <p:nvSpPr>
          <p:cNvPr id="13" name="Text 11"/>
          <p:cNvSpPr/>
          <p:nvPr/>
        </p:nvSpPr>
        <p:spPr>
          <a:xfrm>
            <a:off x="3670300" y="2305050"/>
            <a:ext cx="223685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FMA: 30-second clips, explored before modelling.</a:t>
            </a:r>
            <a:endParaRPr lang="en-US" sz="1200" dirty="0"/>
          </a:p>
        </p:txBody>
      </p:sp>
      <p:sp>
        <p:nvSpPr>
          <p:cNvPr id="14" name="Text 12"/>
          <p:cNvSpPr/>
          <p:nvPr/>
        </p:nvSpPr>
        <p:spPr>
          <a:xfrm>
            <a:off x="3670300" y="2800350"/>
            <a:ext cx="2236851" cy="6540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63"/>
                </a:solidFill>
                <a:latin typeface="Poppins" pitchFamily="34" charset="0"/>
                <a:ea typeface="Poppins" pitchFamily="34" charset="-122"/>
                <a:cs typeface="Poppins" pitchFamily="34" charset="-120"/>
              </a:rPr>
              <a:t>Why:</a:t>
            </a:r>
            <a:r>
              <a:rPr lang="en-US" sz="1200" dirty="0">
                <a:solidFill>
                  <a:srgbClr val="4A4F63"/>
                </a:solidFill>
                <a:latin typeface="Poppins" pitchFamily="34" charset="0"/>
                <a:ea typeface="Poppins" pitchFamily="34" charset="-122"/>
                <a:cs typeface="Poppins" pitchFamily="34" charset="-120"/>
              </a:rPr>
              <a:t> real audio, an open licence, a balanced 8,000-track set.</a:t>
            </a:r>
            <a:endParaRPr lang="en-US" sz="1200" dirty="0"/>
          </a:p>
        </p:txBody>
      </p:sp>
      <p:sp>
        <p:nvSpPr>
          <p:cNvPr id="15" name="Shape 13"/>
          <p:cNvSpPr/>
          <p:nvPr/>
        </p:nvSpPr>
        <p:spPr>
          <a:xfrm>
            <a:off x="3670300" y="5067300"/>
            <a:ext cx="2171700" cy="584200"/>
          </a:xfrm>
          <a:prstGeom prst="roundRect">
            <a:avLst>
              <a:gd name="adj" fmla="val 15217"/>
            </a:avLst>
          </a:prstGeom>
          <a:solidFill>
            <a:srgbClr val="171B2E"/>
          </a:solidFill>
          <a:ln/>
        </p:spPr>
      </p:sp>
      <p:sp>
        <p:nvSpPr>
          <p:cNvPr id="16" name="Text 14"/>
          <p:cNvSpPr/>
          <p:nvPr/>
        </p:nvSpPr>
        <p:spPr>
          <a:xfrm>
            <a:off x="3784600" y="5156200"/>
            <a:ext cx="2001393"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6F3EB"/>
                </a:solidFill>
                <a:latin typeface="Poppins" pitchFamily="34" charset="0"/>
                <a:ea typeface="Poppins" pitchFamily="34" charset="-122"/>
                <a:cs typeface="Poppins" pitchFamily="34" charset="-120"/>
              </a:rPr>
              <a:t>→ Four findings shaped the design</a:t>
            </a:r>
            <a:endParaRPr lang="en-US" sz="1200" dirty="0"/>
          </a:p>
        </p:txBody>
      </p:sp>
      <p:sp>
        <p:nvSpPr>
          <p:cNvPr id="17" name="Shape 15"/>
          <p:cNvSpPr/>
          <p:nvPr/>
        </p:nvSpPr>
        <p:spPr>
          <a:xfrm>
            <a:off x="6178550" y="1549400"/>
            <a:ext cx="2514600" cy="4286250"/>
          </a:xfrm>
          <a:prstGeom prst="roundRect">
            <a:avLst>
              <a:gd name="adj" fmla="val 4798"/>
            </a:avLst>
          </a:prstGeom>
          <a:solidFill>
            <a:srgbClr val="FBFAF5"/>
          </a:solidFill>
          <a:ln w="12700">
            <a:solidFill>
              <a:srgbClr val="171B2E"/>
            </a:solidFill>
            <a:prstDash val="solid"/>
          </a:ln>
        </p:spPr>
      </p:sp>
      <p:sp>
        <p:nvSpPr>
          <p:cNvPr id="18" name="Text 16"/>
          <p:cNvSpPr/>
          <p:nvPr/>
        </p:nvSpPr>
        <p:spPr>
          <a:xfrm>
            <a:off x="6350000" y="1733550"/>
            <a:ext cx="2236851"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4"/>
                </a:solidFill>
                <a:latin typeface="Poppins" pitchFamily="34" charset="0"/>
                <a:ea typeface="Poppins" pitchFamily="34" charset="-122"/>
                <a:cs typeface="Poppins" pitchFamily="34" charset="-120"/>
              </a:rPr>
              <a:t>STEP 2</a:t>
            </a:r>
            <a:endParaRPr lang="en-US" sz="1200" dirty="0"/>
          </a:p>
        </p:txBody>
      </p:sp>
      <p:sp>
        <p:nvSpPr>
          <p:cNvPr id="19" name="Text 17"/>
          <p:cNvSpPr/>
          <p:nvPr/>
        </p:nvSpPr>
        <p:spPr>
          <a:xfrm>
            <a:off x="6350000" y="2019300"/>
            <a:ext cx="2236851"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B2E"/>
                </a:solidFill>
                <a:latin typeface="Unbounded" pitchFamily="34" charset="0"/>
                <a:ea typeface="Unbounded" pitchFamily="34" charset="-122"/>
                <a:cs typeface="Unbounded" pitchFamily="34" charset="-120"/>
              </a:rPr>
              <a:t>BASELINE</a:t>
            </a:r>
            <a:endParaRPr lang="en-US" sz="1400" dirty="0"/>
          </a:p>
        </p:txBody>
      </p:sp>
      <p:sp>
        <p:nvSpPr>
          <p:cNvPr id="20" name="Text 18"/>
          <p:cNvSpPr/>
          <p:nvPr/>
        </p:nvSpPr>
        <p:spPr>
          <a:xfrm>
            <a:off x="6350000" y="2305050"/>
            <a:ext cx="223685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518 features → scale → PCA → nearest tracks by cosine.</a:t>
            </a:r>
            <a:endParaRPr lang="en-US" sz="1200" dirty="0"/>
          </a:p>
        </p:txBody>
      </p:sp>
      <p:sp>
        <p:nvSpPr>
          <p:cNvPr id="21" name="Text 19"/>
          <p:cNvSpPr/>
          <p:nvPr/>
        </p:nvSpPr>
        <p:spPr>
          <a:xfrm>
            <a:off x="6350000" y="2800350"/>
            <a:ext cx="2236851" cy="8636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63"/>
                </a:solidFill>
                <a:latin typeface="Poppins" pitchFamily="34" charset="0"/>
                <a:ea typeface="Poppins" pitchFamily="34" charset="-122"/>
                <a:cs typeface="Poppins" pitchFamily="34" charset="-120"/>
              </a:rPr>
              <a:t>Why:</a:t>
            </a:r>
            <a:r>
              <a:rPr lang="en-US" sz="1200" dirty="0">
                <a:solidFill>
                  <a:srgbClr val="4A4F63"/>
                </a:solidFill>
                <a:latin typeface="Poppins" pitchFamily="34" charset="0"/>
                <a:ea typeface="Poppins" pitchFamily="34" charset="-122"/>
                <a:cs typeface="Poppins" pitchFamily="34" charset="-120"/>
              </a:rPr>
              <a:t> equal weight per feature, no repetition, compare the shape of the sound.</a:t>
            </a:r>
            <a:endParaRPr lang="en-US" sz="1200" dirty="0"/>
          </a:p>
        </p:txBody>
      </p:sp>
      <p:sp>
        <p:nvSpPr>
          <p:cNvPr id="22" name="Shape 20"/>
          <p:cNvSpPr/>
          <p:nvPr/>
        </p:nvSpPr>
        <p:spPr>
          <a:xfrm>
            <a:off x="6350000" y="5067300"/>
            <a:ext cx="2171700" cy="584200"/>
          </a:xfrm>
          <a:prstGeom prst="roundRect">
            <a:avLst>
              <a:gd name="adj" fmla="val 15217"/>
            </a:avLst>
          </a:prstGeom>
          <a:solidFill>
            <a:srgbClr val="171B2E"/>
          </a:solidFill>
          <a:ln/>
        </p:spPr>
      </p:sp>
      <p:sp>
        <p:nvSpPr>
          <p:cNvPr id="23" name="Text 21"/>
          <p:cNvSpPr/>
          <p:nvPr/>
        </p:nvSpPr>
        <p:spPr>
          <a:xfrm>
            <a:off x="6464300" y="5156200"/>
            <a:ext cx="2001393"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6F3EB"/>
                </a:solidFill>
                <a:latin typeface="Poppins" pitchFamily="34" charset="0"/>
                <a:ea typeface="Poppins" pitchFamily="34" charset="-122"/>
                <a:cs typeface="Poppins" pitchFamily="34" charset="-120"/>
              </a:rPr>
              <a:t>→ A working model to beat</a:t>
            </a:r>
            <a:endParaRPr lang="en-US" sz="1200" dirty="0"/>
          </a:p>
        </p:txBody>
      </p:sp>
      <p:sp>
        <p:nvSpPr>
          <p:cNvPr id="24" name="Shape 22"/>
          <p:cNvSpPr/>
          <p:nvPr/>
        </p:nvSpPr>
        <p:spPr>
          <a:xfrm>
            <a:off x="8858250" y="1549400"/>
            <a:ext cx="2514600" cy="4286250"/>
          </a:xfrm>
          <a:prstGeom prst="roundRect">
            <a:avLst>
              <a:gd name="adj" fmla="val 4798"/>
            </a:avLst>
          </a:prstGeom>
          <a:solidFill>
            <a:srgbClr val="FBFAF5"/>
          </a:solidFill>
          <a:ln w="12700">
            <a:solidFill>
              <a:srgbClr val="171B2E"/>
            </a:solidFill>
            <a:prstDash val="solid"/>
          </a:ln>
        </p:spPr>
      </p:sp>
      <p:sp>
        <p:nvSpPr>
          <p:cNvPr id="25" name="Text 23"/>
          <p:cNvSpPr/>
          <p:nvPr/>
        </p:nvSpPr>
        <p:spPr>
          <a:xfrm>
            <a:off x="9029700" y="1733550"/>
            <a:ext cx="2236851"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4"/>
                </a:solidFill>
                <a:latin typeface="Poppins" pitchFamily="34" charset="0"/>
                <a:ea typeface="Poppins" pitchFamily="34" charset="-122"/>
                <a:cs typeface="Poppins" pitchFamily="34" charset="-120"/>
              </a:rPr>
              <a:t>STEP 3</a:t>
            </a:r>
            <a:endParaRPr lang="en-US" sz="1200" dirty="0"/>
          </a:p>
        </p:txBody>
      </p:sp>
      <p:sp>
        <p:nvSpPr>
          <p:cNvPr id="26" name="Text 24"/>
          <p:cNvSpPr/>
          <p:nvPr/>
        </p:nvSpPr>
        <p:spPr>
          <a:xfrm>
            <a:off x="9029700" y="2019300"/>
            <a:ext cx="2236851"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71B2E"/>
                </a:solidFill>
                <a:latin typeface="Unbounded" pitchFamily="34" charset="0"/>
                <a:ea typeface="Unbounded" pitchFamily="34" charset="-122"/>
                <a:cs typeface="Unbounded" pitchFamily="34" charset="-120"/>
              </a:rPr>
              <a:t>GENRE CHECK</a:t>
            </a:r>
            <a:endParaRPr lang="en-US" sz="1400" dirty="0"/>
          </a:p>
        </p:txBody>
      </p:sp>
      <p:sp>
        <p:nvSpPr>
          <p:cNvPr id="27" name="Text 25"/>
          <p:cNvSpPr/>
          <p:nvPr/>
        </p:nvSpPr>
        <p:spPr>
          <a:xfrm>
            <a:off x="9029700" y="2305050"/>
            <a:ext cx="2236851"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71B2E"/>
                </a:solidFill>
                <a:latin typeface="Poppins" pitchFamily="34" charset="0"/>
                <a:ea typeface="Poppins" pitchFamily="34" charset="-122"/>
                <a:cs typeface="Poppins" pitchFamily="34" charset="-120"/>
              </a:rPr>
              <a:t>Do the picks share the seed's genre?</a:t>
            </a:r>
            <a:endParaRPr lang="en-US" sz="1200" dirty="0"/>
          </a:p>
        </p:txBody>
      </p:sp>
      <p:sp>
        <p:nvSpPr>
          <p:cNvPr id="28" name="Text 26"/>
          <p:cNvSpPr/>
          <p:nvPr/>
        </p:nvSpPr>
        <p:spPr>
          <a:xfrm>
            <a:off x="9029700" y="2800350"/>
            <a:ext cx="2236851"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4F63"/>
                </a:solidFill>
                <a:latin typeface="Poppins" pitchFamily="34" charset="0"/>
                <a:ea typeface="Poppins" pitchFamily="34" charset="-122"/>
                <a:cs typeface="Poppins" pitchFamily="34" charset="-120"/>
              </a:rPr>
              <a:t>Why:</a:t>
            </a:r>
            <a:r>
              <a:rPr lang="en-US" sz="1200" dirty="0">
                <a:solidFill>
                  <a:srgbClr val="4A4F63"/>
                </a:solidFill>
                <a:latin typeface="Poppins" pitchFamily="34" charset="0"/>
                <a:ea typeface="Poppins" pitchFamily="34" charset="-122"/>
                <a:cs typeface="Poppins" pitchFamily="34" charset="-120"/>
              </a:rPr>
              <a:t> fast and free, no people needed.</a:t>
            </a:r>
            <a:endParaRPr lang="en-US" sz="1200" dirty="0"/>
          </a:p>
        </p:txBody>
      </p:sp>
      <p:sp>
        <p:nvSpPr>
          <p:cNvPr id="29" name="Shape 27"/>
          <p:cNvSpPr/>
          <p:nvPr/>
        </p:nvSpPr>
        <p:spPr>
          <a:xfrm>
            <a:off x="9029700" y="5067300"/>
            <a:ext cx="2171700" cy="584200"/>
          </a:xfrm>
          <a:prstGeom prst="roundRect">
            <a:avLst>
              <a:gd name="adj" fmla="val 15217"/>
            </a:avLst>
          </a:prstGeom>
          <a:solidFill>
            <a:srgbClr val="D63A7A"/>
          </a:solidFill>
          <a:ln/>
        </p:spPr>
      </p:sp>
      <p:sp>
        <p:nvSpPr>
          <p:cNvPr id="30" name="Text 28"/>
          <p:cNvSpPr/>
          <p:nvPr/>
        </p:nvSpPr>
        <p:spPr>
          <a:xfrm>
            <a:off x="9144000" y="5156200"/>
            <a:ext cx="2001393"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FBFAF5"/>
                </a:solidFill>
                <a:latin typeface="Poppins" pitchFamily="34" charset="0"/>
                <a:ea typeface="Poppins" pitchFamily="34" charset="-122"/>
                <a:cs typeface="Poppins" pitchFamily="34" charset="-120"/>
              </a:rPr>
              <a:t>→ Numbers, but is genre the right ruler?</a:t>
            </a:r>
            <a:endParaRPr lang="en-US" sz="1200" dirty="0"/>
          </a:p>
        </p:txBody>
      </p:sp>
      <p:sp>
        <p:nvSpPr>
          <p:cNvPr id="31" name="Text 29"/>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63"/>
                </a:solidFill>
                <a:latin typeface="Poppins" pitchFamily="34" charset="0"/>
                <a:ea typeface="Poppins" pitchFamily="34" charset="-122"/>
                <a:cs typeface="Poppins" pitchFamily="34" charset="-120"/>
              </a:rPr>
              <a:t>Each step answers what the step before it left open.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71B2E"/>
        </a:solidFill>
      </p:bgPr>
    </p:bg>
    <p:spTree>
      <p:nvGrpSpPr>
        <p:cNvPr id="1" name=""/>
        <p:cNvGrpSpPr/>
        <p:nvPr/>
      </p:nvGrpSpPr>
      <p:grpSpPr>
        <a:xfrm>
          <a:off x="0" y="0"/>
          <a:ext cx="0" cy="0"/>
          <a:chOff x="0" y="0"/>
          <a:chExt cx="0" cy="0"/>
        </a:xfrm>
      </p:grpSpPr>
      <p:sp>
        <p:nvSpPr>
          <p:cNvPr id="2" name="Text 0"/>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ED3"/>
                </a:solidFill>
                <a:latin typeface="Poppins" pitchFamily="34" charset="0"/>
                <a:ea typeface="Poppins" pitchFamily="34" charset="-122"/>
                <a:cs typeface="Poppins" pitchFamily="34" charset="-120"/>
              </a:rPr>
              <a:t>Round 1 gave us an idea; round 2 tested it on new data; EffNet was checked against both.</a:t>
            </a:r>
            <a:endParaRPr lang="en-US" sz="1200" dirty="0"/>
          </a:p>
        </p:txBody>
      </p:sp>
      <p:sp>
        <p:nvSpPr>
          <p:cNvPr id="3" name="Text 1"/>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C8F041"/>
                </a:solidFill>
                <a:latin typeface="Unbounded" pitchFamily="34" charset="0"/>
                <a:ea typeface="Unbounded" pitchFamily="34" charset="-122"/>
                <a:cs typeface="Unbounded" pitchFamily="34" charset="-120"/>
              </a:rPr>
              <a:t>THE PATH · 2 LISTEN</a:t>
            </a:r>
            <a:endParaRPr lang="en-US" sz="3600" dirty="0"/>
          </a:p>
        </p:txBody>
      </p:sp>
      <p:sp>
        <p:nvSpPr>
          <p:cNvPr id="4" name="Shape 2"/>
          <p:cNvSpPr/>
          <p:nvPr/>
        </p:nvSpPr>
        <p:spPr>
          <a:xfrm>
            <a:off x="812800" y="1543050"/>
            <a:ext cx="2011660" cy="4298950"/>
          </a:xfrm>
          <a:prstGeom prst="roundRect">
            <a:avLst>
              <a:gd name="adj" fmla="val 6313"/>
            </a:avLst>
          </a:prstGeom>
          <a:solidFill>
            <a:srgbClr val="232842"/>
          </a:solidFill>
          <a:ln/>
        </p:spPr>
      </p:sp>
      <p:sp>
        <p:nvSpPr>
          <p:cNvPr id="5" name="Shape 3"/>
          <p:cNvSpPr/>
          <p:nvPr/>
        </p:nvSpPr>
        <p:spPr>
          <a:xfrm>
            <a:off x="812800" y="1543050"/>
            <a:ext cx="2011660" cy="4298950"/>
          </a:xfrm>
          <a:custGeom>
            <a:avLst/>
            <a:gdLst/>
            <a:ahLst/>
            <a:cxnLst/>
            <a:rect l="l" t="t" r="r" b="b"/>
            <a:pathLst>
              <a:path w="2011660" h="4298950">
                <a:moveTo>
                  <a:pt x="0" y="127000"/>
                </a:moveTo>
                <a:lnTo>
                  <a:pt x="0" y="127000"/>
                </a:lnTo>
                <a:arcTo hR="127000" wR="127000" stAng="10800000" swAng="5400000"/>
                <a:lnTo>
                  <a:pt x="1884660" y="0"/>
                </a:lnTo>
                <a:arcTo hR="127000" wR="127000" stAng="16200000" swAng="5400000"/>
                <a:lnTo>
                  <a:pt x="2011660" y="127000"/>
                </a:lnTo>
                <a:arcTo hR="50800" wR="127000" stAng="0" swAng="-5400000"/>
                <a:lnTo>
                  <a:pt x="127000" y="76200"/>
                </a:lnTo>
                <a:arcTo hR="50800" wR="127000" stAng="16200000" swAng="-5400000"/>
                <a:close/>
              </a:path>
            </a:pathLst>
          </a:custGeom>
          <a:solidFill>
            <a:srgbClr val="D63A7A"/>
          </a:solidFill>
          <a:ln/>
        </p:spPr>
      </p:sp>
      <p:sp>
        <p:nvSpPr>
          <p:cNvPr id="6" name="Text 4"/>
          <p:cNvSpPr/>
          <p:nvPr/>
        </p:nvSpPr>
        <p:spPr>
          <a:xfrm>
            <a:off x="952500" y="1784350"/>
            <a:ext cx="178422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6B9"/>
                </a:solidFill>
                <a:latin typeface="Poppins" pitchFamily="34" charset="0"/>
                <a:ea typeface="Poppins" pitchFamily="34" charset="-122"/>
                <a:cs typeface="Poppins" pitchFamily="34" charset="-120"/>
              </a:rPr>
              <a:t>STEP 4</a:t>
            </a:r>
            <a:endParaRPr lang="en-US" sz="1200" dirty="0"/>
          </a:p>
        </p:txBody>
      </p:sp>
      <p:sp>
        <p:nvSpPr>
          <p:cNvPr id="7" name="Text 5"/>
          <p:cNvSpPr/>
          <p:nvPr/>
        </p:nvSpPr>
        <p:spPr>
          <a:xfrm>
            <a:off x="952500" y="2070100"/>
            <a:ext cx="1784228"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ROUND 1</a:t>
            </a:r>
            <a:endParaRPr lang="en-US" sz="1400" dirty="0"/>
          </a:p>
        </p:txBody>
      </p:sp>
      <p:sp>
        <p:nvSpPr>
          <p:cNvPr id="8" name="Text 6"/>
          <p:cNvSpPr/>
          <p:nvPr/>
        </p:nvSpPr>
        <p:spPr>
          <a:xfrm>
            <a:off x="952500" y="2355850"/>
            <a:ext cx="178422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6 people, 80 blind pairs, scored 1–5.</a:t>
            </a:r>
            <a:endParaRPr lang="en-US" sz="1200" dirty="0"/>
          </a:p>
        </p:txBody>
      </p:sp>
      <p:sp>
        <p:nvSpPr>
          <p:cNvPr id="9" name="Text 7"/>
          <p:cNvSpPr/>
          <p:nvPr/>
        </p:nvSpPr>
        <p:spPr>
          <a:xfrm>
            <a:off x="952500" y="2851150"/>
            <a:ext cx="1784228"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only the ear can judge “sounds similar”.</a:t>
            </a:r>
            <a:endParaRPr lang="en-US" sz="1200" dirty="0"/>
          </a:p>
        </p:txBody>
      </p:sp>
      <p:sp>
        <p:nvSpPr>
          <p:cNvPr id="10" name="Shape 8"/>
          <p:cNvSpPr/>
          <p:nvPr/>
        </p:nvSpPr>
        <p:spPr>
          <a:xfrm>
            <a:off x="952500" y="4889500"/>
            <a:ext cx="1732260" cy="787400"/>
          </a:xfrm>
          <a:prstGeom prst="roundRect">
            <a:avLst>
              <a:gd name="adj" fmla="val 11290"/>
            </a:avLst>
          </a:prstGeom>
          <a:solidFill>
            <a:srgbClr val="C8F041"/>
          </a:solidFill>
          <a:ln/>
        </p:spPr>
      </p:sp>
      <p:sp>
        <p:nvSpPr>
          <p:cNvPr id="11" name="Text 9"/>
          <p:cNvSpPr/>
          <p:nvPr/>
        </p:nvSpPr>
        <p:spPr>
          <a:xfrm>
            <a:off x="1054100" y="4978400"/>
            <a:ext cx="1579860" cy="6350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Beats random; people hear rhythm and drums</a:t>
            </a:r>
            <a:endParaRPr lang="en-US" sz="1200" dirty="0"/>
          </a:p>
        </p:txBody>
      </p:sp>
      <p:sp>
        <p:nvSpPr>
          <p:cNvPr id="12" name="Shape 10"/>
          <p:cNvSpPr/>
          <p:nvPr/>
        </p:nvSpPr>
        <p:spPr>
          <a:xfrm>
            <a:off x="2951460" y="1543050"/>
            <a:ext cx="2011660" cy="4298950"/>
          </a:xfrm>
          <a:prstGeom prst="roundRect">
            <a:avLst>
              <a:gd name="adj" fmla="val 6313"/>
            </a:avLst>
          </a:prstGeom>
          <a:solidFill>
            <a:srgbClr val="232842"/>
          </a:solidFill>
          <a:ln/>
        </p:spPr>
      </p:sp>
      <p:sp>
        <p:nvSpPr>
          <p:cNvPr id="13" name="Shape 11"/>
          <p:cNvSpPr/>
          <p:nvPr/>
        </p:nvSpPr>
        <p:spPr>
          <a:xfrm>
            <a:off x="2951460" y="1543050"/>
            <a:ext cx="2011660" cy="4298950"/>
          </a:xfrm>
          <a:custGeom>
            <a:avLst/>
            <a:gdLst/>
            <a:ahLst/>
            <a:cxnLst/>
            <a:rect l="l" t="t" r="r" b="b"/>
            <a:pathLst>
              <a:path w="2011660" h="4298950">
                <a:moveTo>
                  <a:pt x="0" y="127000"/>
                </a:moveTo>
                <a:lnTo>
                  <a:pt x="0" y="127000"/>
                </a:lnTo>
                <a:arcTo hR="127000" wR="127000" stAng="10800000" swAng="5400000"/>
                <a:lnTo>
                  <a:pt x="1884660" y="0"/>
                </a:lnTo>
                <a:arcTo hR="127000" wR="127000" stAng="16200000" swAng="5400000"/>
                <a:lnTo>
                  <a:pt x="2011660" y="127000"/>
                </a:lnTo>
                <a:arcTo hR="50800" wR="127000" stAng="0" swAng="-5400000"/>
                <a:lnTo>
                  <a:pt x="127000" y="76200"/>
                </a:lnTo>
                <a:arcTo hR="50800" wR="127000" stAng="16200000" swAng="-5400000"/>
                <a:close/>
              </a:path>
            </a:pathLst>
          </a:custGeom>
          <a:solidFill>
            <a:srgbClr val="D63A7A"/>
          </a:solidFill>
          <a:ln/>
        </p:spPr>
      </p:sp>
      <p:sp>
        <p:nvSpPr>
          <p:cNvPr id="14" name="Text 12"/>
          <p:cNvSpPr/>
          <p:nvPr/>
        </p:nvSpPr>
        <p:spPr>
          <a:xfrm>
            <a:off x="3091160" y="1784350"/>
            <a:ext cx="178422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6B9"/>
                </a:solidFill>
                <a:latin typeface="Poppins" pitchFamily="34" charset="0"/>
                <a:ea typeface="Poppins" pitchFamily="34" charset="-122"/>
                <a:cs typeface="Poppins" pitchFamily="34" charset="-120"/>
              </a:rPr>
              <a:t>STEP 5</a:t>
            </a:r>
            <a:endParaRPr lang="en-US" sz="1200" dirty="0"/>
          </a:p>
        </p:txBody>
      </p:sp>
      <p:sp>
        <p:nvSpPr>
          <p:cNvPr id="15" name="Text 13"/>
          <p:cNvSpPr/>
          <p:nvPr/>
        </p:nvSpPr>
        <p:spPr>
          <a:xfrm>
            <a:off x="3091160" y="2070100"/>
            <a:ext cx="1784228"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“HEARD”</a:t>
            </a:r>
            <a:endParaRPr lang="en-US" sz="1400" dirty="0"/>
          </a:p>
        </p:txBody>
      </p:sp>
      <p:sp>
        <p:nvSpPr>
          <p:cNvPr id="16" name="Text 14"/>
          <p:cNvSpPr/>
          <p:nvPr/>
        </p:nvSpPr>
        <p:spPr>
          <a:xfrm>
            <a:off x="3091160" y="2355850"/>
            <a:ext cx="1784228"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Rhythm and drum features added, weak harmony dropped.</a:t>
            </a:r>
            <a:endParaRPr lang="en-US" sz="1200" dirty="0"/>
          </a:p>
        </p:txBody>
      </p:sp>
      <p:sp>
        <p:nvSpPr>
          <p:cNvPr id="17" name="Text 15"/>
          <p:cNvSpPr/>
          <p:nvPr/>
        </p:nvSpPr>
        <p:spPr>
          <a:xfrm>
            <a:off x="3091160" y="3060700"/>
            <a:ext cx="1784228" cy="6540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build what listeners said they hear.</a:t>
            </a:r>
            <a:endParaRPr lang="en-US" sz="1200" dirty="0"/>
          </a:p>
        </p:txBody>
      </p:sp>
      <p:sp>
        <p:nvSpPr>
          <p:cNvPr id="18" name="Shape 16"/>
          <p:cNvSpPr/>
          <p:nvPr/>
        </p:nvSpPr>
        <p:spPr>
          <a:xfrm>
            <a:off x="3091160" y="5092700"/>
            <a:ext cx="1732260" cy="584200"/>
          </a:xfrm>
          <a:prstGeom prst="roundRect">
            <a:avLst>
              <a:gd name="adj" fmla="val 15217"/>
            </a:avLst>
          </a:prstGeom>
          <a:solidFill>
            <a:srgbClr val="C8F041"/>
          </a:solidFill>
          <a:ln/>
        </p:spPr>
      </p:sp>
      <p:sp>
        <p:nvSpPr>
          <p:cNvPr id="19" name="Text 17"/>
          <p:cNvSpPr/>
          <p:nvPr/>
        </p:nvSpPr>
        <p:spPr>
          <a:xfrm>
            <a:off x="3192760" y="5181600"/>
            <a:ext cx="1579860"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Fits round 1 better</a:t>
            </a:r>
            <a:endParaRPr lang="en-US" sz="1200" dirty="0"/>
          </a:p>
        </p:txBody>
      </p:sp>
      <p:sp>
        <p:nvSpPr>
          <p:cNvPr id="20" name="Shape 18"/>
          <p:cNvSpPr/>
          <p:nvPr/>
        </p:nvSpPr>
        <p:spPr>
          <a:xfrm>
            <a:off x="5090120" y="1543050"/>
            <a:ext cx="2011660" cy="4298950"/>
          </a:xfrm>
          <a:prstGeom prst="roundRect">
            <a:avLst>
              <a:gd name="adj" fmla="val 6313"/>
            </a:avLst>
          </a:prstGeom>
          <a:solidFill>
            <a:srgbClr val="232842"/>
          </a:solidFill>
          <a:ln/>
        </p:spPr>
      </p:sp>
      <p:sp>
        <p:nvSpPr>
          <p:cNvPr id="21" name="Shape 19"/>
          <p:cNvSpPr/>
          <p:nvPr/>
        </p:nvSpPr>
        <p:spPr>
          <a:xfrm>
            <a:off x="5090120" y="1543050"/>
            <a:ext cx="2011660" cy="4298950"/>
          </a:xfrm>
          <a:custGeom>
            <a:avLst/>
            <a:gdLst/>
            <a:ahLst/>
            <a:cxnLst/>
            <a:rect l="l" t="t" r="r" b="b"/>
            <a:pathLst>
              <a:path w="2011660" h="4298950">
                <a:moveTo>
                  <a:pt x="0" y="127000"/>
                </a:moveTo>
                <a:lnTo>
                  <a:pt x="0" y="127000"/>
                </a:lnTo>
                <a:arcTo hR="127000" wR="127000" stAng="10800000" swAng="5400000"/>
                <a:lnTo>
                  <a:pt x="1884660" y="0"/>
                </a:lnTo>
                <a:arcTo hR="127000" wR="127000" stAng="16200000" swAng="5400000"/>
                <a:lnTo>
                  <a:pt x="2011660" y="127000"/>
                </a:lnTo>
                <a:arcTo hR="50800" wR="127000" stAng="0" swAng="-5400000"/>
                <a:lnTo>
                  <a:pt x="127000" y="76200"/>
                </a:lnTo>
                <a:arcTo hR="50800" wR="127000" stAng="16200000" swAng="-5400000"/>
                <a:close/>
              </a:path>
            </a:pathLst>
          </a:custGeom>
          <a:solidFill>
            <a:srgbClr val="D63A7A"/>
          </a:solidFill>
          <a:ln/>
        </p:spPr>
      </p:sp>
      <p:sp>
        <p:nvSpPr>
          <p:cNvPr id="22" name="Text 20"/>
          <p:cNvSpPr/>
          <p:nvPr/>
        </p:nvSpPr>
        <p:spPr>
          <a:xfrm>
            <a:off x="5229820" y="1784350"/>
            <a:ext cx="178422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6B9"/>
                </a:solidFill>
                <a:latin typeface="Poppins" pitchFamily="34" charset="0"/>
                <a:ea typeface="Poppins" pitchFamily="34" charset="-122"/>
                <a:cs typeface="Poppins" pitchFamily="34" charset="-120"/>
              </a:rPr>
              <a:t>STEP 6</a:t>
            </a:r>
            <a:endParaRPr lang="en-US" sz="1200" dirty="0"/>
          </a:p>
        </p:txBody>
      </p:sp>
      <p:sp>
        <p:nvSpPr>
          <p:cNvPr id="23" name="Text 21"/>
          <p:cNvSpPr/>
          <p:nvPr/>
        </p:nvSpPr>
        <p:spPr>
          <a:xfrm>
            <a:off x="5229820" y="2070100"/>
            <a:ext cx="1784228"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ROUND 2</a:t>
            </a:r>
            <a:endParaRPr lang="en-US" sz="1400" dirty="0"/>
          </a:p>
        </p:txBody>
      </p:sp>
      <p:sp>
        <p:nvSpPr>
          <p:cNvPr id="24" name="Text 22"/>
          <p:cNvSpPr/>
          <p:nvPr/>
        </p:nvSpPr>
        <p:spPr>
          <a:xfrm>
            <a:off x="5229820" y="2355850"/>
            <a:ext cx="1784228"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12 fresh seeds, pairs from both models.</a:t>
            </a:r>
            <a:endParaRPr lang="en-US" sz="1200" dirty="0"/>
          </a:p>
        </p:txBody>
      </p:sp>
      <p:sp>
        <p:nvSpPr>
          <p:cNvPr id="25" name="Text 23"/>
          <p:cNvSpPr/>
          <p:nvPr/>
        </p:nvSpPr>
        <p:spPr>
          <a:xfrm>
            <a:off x="5229820" y="2851150"/>
            <a:ext cx="1784228" cy="6540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never judge an idea on the data it came from.</a:t>
            </a:r>
            <a:endParaRPr lang="en-US" sz="1200" dirty="0"/>
          </a:p>
        </p:txBody>
      </p:sp>
      <p:sp>
        <p:nvSpPr>
          <p:cNvPr id="26" name="Shape 24"/>
          <p:cNvSpPr/>
          <p:nvPr/>
        </p:nvSpPr>
        <p:spPr>
          <a:xfrm>
            <a:off x="5229820" y="5092700"/>
            <a:ext cx="1732260" cy="584200"/>
          </a:xfrm>
          <a:prstGeom prst="roundRect">
            <a:avLst>
              <a:gd name="adj" fmla="val 15217"/>
            </a:avLst>
          </a:prstGeom>
          <a:solidFill>
            <a:srgbClr val="FF86B9"/>
          </a:solidFill>
          <a:ln/>
        </p:spPr>
      </p:sp>
      <p:sp>
        <p:nvSpPr>
          <p:cNvPr id="27" name="Text 25"/>
          <p:cNvSpPr/>
          <p:nvPr/>
        </p:nvSpPr>
        <p:spPr>
          <a:xfrm>
            <a:off x="5331420" y="5181600"/>
            <a:ext cx="1579860"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A tie: claim withdrawn</a:t>
            </a:r>
            <a:endParaRPr lang="en-US" sz="1200" dirty="0"/>
          </a:p>
        </p:txBody>
      </p:sp>
      <p:sp>
        <p:nvSpPr>
          <p:cNvPr id="28" name="Shape 26"/>
          <p:cNvSpPr/>
          <p:nvPr/>
        </p:nvSpPr>
        <p:spPr>
          <a:xfrm>
            <a:off x="7228780" y="1543050"/>
            <a:ext cx="2011660" cy="4298950"/>
          </a:xfrm>
          <a:prstGeom prst="roundRect">
            <a:avLst>
              <a:gd name="adj" fmla="val 6313"/>
            </a:avLst>
          </a:prstGeom>
          <a:solidFill>
            <a:srgbClr val="232842"/>
          </a:solidFill>
          <a:ln/>
        </p:spPr>
      </p:sp>
      <p:sp>
        <p:nvSpPr>
          <p:cNvPr id="29" name="Shape 27"/>
          <p:cNvSpPr/>
          <p:nvPr/>
        </p:nvSpPr>
        <p:spPr>
          <a:xfrm>
            <a:off x="7228780" y="1543050"/>
            <a:ext cx="2011660" cy="4298950"/>
          </a:xfrm>
          <a:custGeom>
            <a:avLst/>
            <a:gdLst/>
            <a:ahLst/>
            <a:cxnLst/>
            <a:rect l="l" t="t" r="r" b="b"/>
            <a:pathLst>
              <a:path w="2011660" h="4298950">
                <a:moveTo>
                  <a:pt x="0" y="127000"/>
                </a:moveTo>
                <a:lnTo>
                  <a:pt x="0" y="127000"/>
                </a:lnTo>
                <a:arcTo hR="127000" wR="127000" stAng="10800000" swAng="5400000"/>
                <a:lnTo>
                  <a:pt x="1884660" y="0"/>
                </a:lnTo>
                <a:arcTo hR="127000" wR="127000" stAng="16200000" swAng="5400000"/>
                <a:lnTo>
                  <a:pt x="2011660" y="127000"/>
                </a:lnTo>
                <a:arcTo hR="50800" wR="127000" stAng="0" swAng="-5400000"/>
                <a:lnTo>
                  <a:pt x="127000" y="76200"/>
                </a:lnTo>
                <a:arcTo hR="50800" wR="127000" stAng="16200000" swAng="-5400000"/>
                <a:close/>
              </a:path>
            </a:pathLst>
          </a:custGeom>
          <a:solidFill>
            <a:srgbClr val="D63A7A"/>
          </a:solidFill>
          <a:ln/>
        </p:spPr>
      </p:sp>
      <p:sp>
        <p:nvSpPr>
          <p:cNvPr id="30" name="Text 28"/>
          <p:cNvSpPr/>
          <p:nvPr/>
        </p:nvSpPr>
        <p:spPr>
          <a:xfrm>
            <a:off x="7368480" y="1784350"/>
            <a:ext cx="178422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6B9"/>
                </a:solidFill>
                <a:latin typeface="Poppins" pitchFamily="34" charset="0"/>
                <a:ea typeface="Poppins" pitchFamily="34" charset="-122"/>
                <a:cs typeface="Poppins" pitchFamily="34" charset="-120"/>
              </a:rPr>
              <a:t>STEP 7</a:t>
            </a:r>
            <a:endParaRPr lang="en-US" sz="1200" dirty="0"/>
          </a:p>
        </p:txBody>
      </p:sp>
      <p:sp>
        <p:nvSpPr>
          <p:cNvPr id="31" name="Text 29"/>
          <p:cNvSpPr/>
          <p:nvPr/>
        </p:nvSpPr>
        <p:spPr>
          <a:xfrm>
            <a:off x="7368480" y="2070100"/>
            <a:ext cx="1784228"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EFFNET</a:t>
            </a:r>
            <a:endParaRPr lang="en-US" sz="1400" dirty="0"/>
          </a:p>
        </p:txBody>
      </p:sp>
      <p:sp>
        <p:nvSpPr>
          <p:cNvPr id="32" name="Text 30"/>
          <p:cNvSpPr/>
          <p:nvPr/>
        </p:nvSpPr>
        <p:spPr>
          <a:xfrm>
            <a:off x="7368480" y="2355850"/>
            <a:ext cx="1784228"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A pre-trained network: 1,280 numbers per track.</a:t>
            </a:r>
            <a:endParaRPr lang="en-US" sz="1200" dirty="0"/>
          </a:p>
        </p:txBody>
      </p:sp>
      <p:sp>
        <p:nvSpPr>
          <p:cNvPr id="33" name="Text 31"/>
          <p:cNvSpPr/>
          <p:nvPr/>
        </p:nvSpPr>
        <p:spPr>
          <a:xfrm>
            <a:off x="7368480" y="3060700"/>
            <a:ext cx="1784228" cy="6540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our hand-made features had hit their limit.</a:t>
            </a:r>
            <a:endParaRPr lang="en-US" sz="1200" dirty="0"/>
          </a:p>
        </p:txBody>
      </p:sp>
      <p:sp>
        <p:nvSpPr>
          <p:cNvPr id="34" name="Shape 32"/>
          <p:cNvSpPr/>
          <p:nvPr/>
        </p:nvSpPr>
        <p:spPr>
          <a:xfrm>
            <a:off x="7368480" y="4483100"/>
            <a:ext cx="1732260" cy="1193800"/>
          </a:xfrm>
          <a:prstGeom prst="roundRect">
            <a:avLst>
              <a:gd name="adj" fmla="val 7447"/>
            </a:avLst>
          </a:prstGeom>
          <a:solidFill>
            <a:srgbClr val="C8F041"/>
          </a:solidFill>
          <a:ln/>
        </p:spPr>
      </p:sp>
      <p:sp>
        <p:nvSpPr>
          <p:cNvPr id="35" name="Text 33"/>
          <p:cNvSpPr/>
          <p:nvPr/>
        </p:nvSpPr>
        <p:spPr>
          <a:xfrm>
            <a:off x="7470080" y="4572000"/>
            <a:ext cx="1579860" cy="10414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Better genre, Spotify and YouTube scores, but no person had listened yet</a:t>
            </a:r>
            <a:endParaRPr lang="en-US" sz="1200" dirty="0"/>
          </a:p>
        </p:txBody>
      </p:sp>
      <p:sp>
        <p:nvSpPr>
          <p:cNvPr id="36" name="Shape 34"/>
          <p:cNvSpPr/>
          <p:nvPr/>
        </p:nvSpPr>
        <p:spPr>
          <a:xfrm>
            <a:off x="9367441" y="1543050"/>
            <a:ext cx="2011660" cy="4298950"/>
          </a:xfrm>
          <a:prstGeom prst="roundRect">
            <a:avLst>
              <a:gd name="adj" fmla="val 6313"/>
            </a:avLst>
          </a:prstGeom>
          <a:solidFill>
            <a:srgbClr val="232842"/>
          </a:solidFill>
          <a:ln/>
        </p:spPr>
      </p:sp>
      <p:sp>
        <p:nvSpPr>
          <p:cNvPr id="37" name="Shape 35"/>
          <p:cNvSpPr/>
          <p:nvPr/>
        </p:nvSpPr>
        <p:spPr>
          <a:xfrm>
            <a:off x="9367441" y="1543050"/>
            <a:ext cx="2011660" cy="4298950"/>
          </a:xfrm>
          <a:custGeom>
            <a:avLst/>
            <a:gdLst/>
            <a:ahLst/>
            <a:cxnLst/>
            <a:rect l="l" t="t" r="r" b="b"/>
            <a:pathLst>
              <a:path w="2011660" h="4298950">
                <a:moveTo>
                  <a:pt x="0" y="127000"/>
                </a:moveTo>
                <a:lnTo>
                  <a:pt x="0" y="127000"/>
                </a:lnTo>
                <a:arcTo hR="127000" wR="127000" stAng="10800000" swAng="5400000"/>
                <a:lnTo>
                  <a:pt x="1884660" y="0"/>
                </a:lnTo>
                <a:arcTo hR="127000" wR="127000" stAng="16200000" swAng="5400000"/>
                <a:lnTo>
                  <a:pt x="2011660" y="127000"/>
                </a:lnTo>
                <a:arcTo hR="50800" wR="127000" stAng="0" swAng="-5400000"/>
                <a:lnTo>
                  <a:pt x="127000" y="76200"/>
                </a:lnTo>
                <a:arcTo hR="50800" wR="127000" stAng="16200000" swAng="-5400000"/>
                <a:close/>
              </a:path>
            </a:pathLst>
          </a:custGeom>
          <a:solidFill>
            <a:srgbClr val="D63A7A"/>
          </a:solidFill>
          <a:ln/>
        </p:spPr>
      </p:sp>
      <p:sp>
        <p:nvSpPr>
          <p:cNvPr id="38" name="Text 36"/>
          <p:cNvSpPr/>
          <p:nvPr/>
        </p:nvSpPr>
        <p:spPr>
          <a:xfrm>
            <a:off x="9507141" y="1784350"/>
            <a:ext cx="178422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F86B9"/>
                </a:solidFill>
                <a:latin typeface="Poppins" pitchFamily="34" charset="0"/>
                <a:ea typeface="Poppins" pitchFamily="34" charset="-122"/>
                <a:cs typeface="Poppins" pitchFamily="34" charset="-120"/>
              </a:rPr>
              <a:t>STEP 8</a:t>
            </a:r>
            <a:endParaRPr lang="en-US" sz="1200" dirty="0"/>
          </a:p>
        </p:txBody>
      </p:sp>
      <p:sp>
        <p:nvSpPr>
          <p:cNvPr id="39" name="Text 37"/>
          <p:cNvSpPr/>
          <p:nvPr/>
        </p:nvSpPr>
        <p:spPr>
          <a:xfrm>
            <a:off x="9507141" y="2070100"/>
            <a:ext cx="1784228"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EAR CHECK</a:t>
            </a:r>
            <a:endParaRPr lang="en-US" sz="1400" dirty="0"/>
          </a:p>
        </p:txBody>
      </p:sp>
      <p:sp>
        <p:nvSpPr>
          <p:cNvPr id="40" name="Text 38"/>
          <p:cNvSpPr/>
          <p:nvPr/>
        </p:nvSpPr>
        <p:spPr>
          <a:xfrm>
            <a:off x="9507141" y="2355850"/>
            <a:ext cx="1784228" cy="863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Does EffNet call close what people scored as similar? 1 = always, 0 = never.</a:t>
            </a:r>
            <a:endParaRPr lang="en-US" sz="1200" dirty="0"/>
          </a:p>
        </p:txBody>
      </p:sp>
      <p:sp>
        <p:nvSpPr>
          <p:cNvPr id="41" name="Text 39"/>
          <p:cNvSpPr/>
          <p:nvPr/>
        </p:nvSpPr>
        <p:spPr>
          <a:xfrm>
            <a:off x="9507141" y="3270250"/>
            <a:ext cx="1784228"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know before switching.</a:t>
            </a:r>
            <a:endParaRPr lang="en-US" sz="1200" dirty="0"/>
          </a:p>
        </p:txBody>
      </p:sp>
      <p:sp>
        <p:nvSpPr>
          <p:cNvPr id="42" name="Shape 40"/>
          <p:cNvSpPr/>
          <p:nvPr/>
        </p:nvSpPr>
        <p:spPr>
          <a:xfrm>
            <a:off x="9507141" y="4889500"/>
            <a:ext cx="1732260" cy="787400"/>
          </a:xfrm>
          <a:prstGeom prst="roundRect">
            <a:avLst>
              <a:gd name="adj" fmla="val 11290"/>
            </a:avLst>
          </a:prstGeom>
          <a:solidFill>
            <a:srgbClr val="C8F041"/>
          </a:solidFill>
          <a:ln/>
        </p:spPr>
      </p:sp>
      <p:sp>
        <p:nvSpPr>
          <p:cNvPr id="43" name="Text 41"/>
          <p:cNvSpPr/>
          <p:nvPr/>
        </p:nvSpPr>
        <p:spPr>
          <a:xfrm>
            <a:off x="9608741" y="4978400"/>
            <a:ext cx="1579860" cy="6350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EffNet 0.59 / 0.73 vs ours 0.39 / 0.33: EffNet wins, it ships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C8F041"/>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71B2E"/>
                </a:solidFill>
                <a:latin typeface="Unbounded" pitchFamily="34" charset="0"/>
                <a:ea typeface="Unbounded" pitchFamily="34" charset="-122"/>
                <a:cs typeface="Unbounded" pitchFamily="34" charset="-120"/>
              </a:rPr>
              <a:t>THE PATH · 3 SHIP AND TEST</a:t>
            </a:r>
            <a:endParaRPr lang="en-US" sz="3600" dirty="0"/>
          </a:p>
        </p:txBody>
      </p:sp>
      <p:sp>
        <p:nvSpPr>
          <p:cNvPr id="3" name="Shape 1"/>
          <p:cNvSpPr/>
          <p:nvPr/>
        </p:nvSpPr>
        <p:spPr>
          <a:xfrm>
            <a:off x="812800" y="1543050"/>
            <a:ext cx="2527300" cy="4298950"/>
          </a:xfrm>
          <a:prstGeom prst="roundRect">
            <a:avLst>
              <a:gd name="adj" fmla="val 5025"/>
            </a:avLst>
          </a:prstGeom>
          <a:solidFill>
            <a:srgbClr val="171B2E"/>
          </a:solidFill>
          <a:ln/>
        </p:spPr>
      </p:sp>
      <p:sp>
        <p:nvSpPr>
          <p:cNvPr id="4" name="Text 2"/>
          <p:cNvSpPr/>
          <p:nvPr/>
        </p:nvSpPr>
        <p:spPr>
          <a:xfrm>
            <a:off x="977900" y="1720850"/>
            <a:ext cx="226301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F041"/>
                </a:solidFill>
                <a:latin typeface="Poppins" pitchFamily="34" charset="0"/>
                <a:ea typeface="Poppins" pitchFamily="34" charset="-122"/>
                <a:cs typeface="Poppins" pitchFamily="34" charset="-120"/>
              </a:rPr>
              <a:t>STEP 9</a:t>
            </a:r>
            <a:endParaRPr lang="en-US" sz="1200" dirty="0"/>
          </a:p>
        </p:txBody>
      </p:sp>
      <p:sp>
        <p:nvSpPr>
          <p:cNvPr id="5" name="Text 3"/>
          <p:cNvSpPr/>
          <p:nvPr/>
        </p:nvSpPr>
        <p:spPr>
          <a:xfrm>
            <a:off x="977900" y="2006600"/>
            <a:ext cx="2263013"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THE APP</a:t>
            </a:r>
            <a:endParaRPr lang="en-US" sz="1400" dirty="0"/>
          </a:p>
        </p:txBody>
      </p:sp>
      <p:sp>
        <p:nvSpPr>
          <p:cNvPr id="6" name="Text 4"/>
          <p:cNvSpPr/>
          <p:nvPr/>
        </p:nvSpPr>
        <p:spPr>
          <a:xfrm>
            <a:off x="977900" y="2292350"/>
            <a:ext cx="2263013"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React + FastAPI, 24,757 tracks, a three-step dial.</a:t>
            </a:r>
            <a:endParaRPr lang="en-US" sz="1200" dirty="0"/>
          </a:p>
        </p:txBody>
      </p:sp>
      <p:sp>
        <p:nvSpPr>
          <p:cNvPr id="7" name="Text 5"/>
          <p:cNvSpPr/>
          <p:nvPr/>
        </p:nvSpPr>
        <p:spPr>
          <a:xfrm>
            <a:off x="977900" y="2787650"/>
            <a:ext cx="2263013" cy="6540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a real product; the model can change without rewriting the screen.</a:t>
            </a:r>
            <a:endParaRPr lang="en-US" sz="1200" dirty="0"/>
          </a:p>
        </p:txBody>
      </p:sp>
      <p:sp>
        <p:nvSpPr>
          <p:cNvPr id="8" name="Text 6"/>
          <p:cNvSpPr/>
          <p:nvPr/>
        </p:nvSpPr>
        <p:spPr>
          <a:xfrm>
            <a:off x="977900" y="5283200"/>
            <a:ext cx="2197100" cy="381000"/>
          </a:xfrm>
          <a:prstGeom prst="roundRect">
            <a:avLst>
              <a:gd name="adj" fmla="val 23333"/>
            </a:avLst>
          </a:prstGeom>
          <a:solidFill>
            <a:srgbClr val="C8F041"/>
          </a:solidFill>
          <a:ln/>
        </p:spPr>
        <p:txBody>
          <a:bodyPr wrap="square" lIns="88262" tIns="62862" rIns="29207" bIns="37462"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Live, with a QR code</a:t>
            </a:r>
            <a:endParaRPr lang="en-US" sz="1200" dirty="0"/>
          </a:p>
        </p:txBody>
      </p:sp>
      <p:sp>
        <p:nvSpPr>
          <p:cNvPr id="9" name="Shape 7"/>
          <p:cNvSpPr/>
          <p:nvPr/>
        </p:nvSpPr>
        <p:spPr>
          <a:xfrm>
            <a:off x="3492500" y="1543050"/>
            <a:ext cx="2527300" cy="4298950"/>
          </a:xfrm>
          <a:prstGeom prst="roundRect">
            <a:avLst>
              <a:gd name="adj" fmla="val 5025"/>
            </a:avLst>
          </a:prstGeom>
          <a:solidFill>
            <a:srgbClr val="171B2E"/>
          </a:solidFill>
          <a:ln/>
        </p:spPr>
      </p:sp>
      <p:sp>
        <p:nvSpPr>
          <p:cNvPr id="10" name="Text 8"/>
          <p:cNvSpPr/>
          <p:nvPr/>
        </p:nvSpPr>
        <p:spPr>
          <a:xfrm>
            <a:off x="3657600" y="1720850"/>
            <a:ext cx="226301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F041"/>
                </a:solidFill>
                <a:latin typeface="Poppins" pitchFamily="34" charset="0"/>
                <a:ea typeface="Poppins" pitchFamily="34" charset="-122"/>
                <a:cs typeface="Poppins" pitchFamily="34" charset="-120"/>
              </a:rPr>
              <a:t>STEP 10</a:t>
            </a:r>
            <a:endParaRPr lang="en-US" sz="1200" dirty="0"/>
          </a:p>
        </p:txBody>
      </p:sp>
      <p:sp>
        <p:nvSpPr>
          <p:cNvPr id="11" name="Text 9"/>
          <p:cNvSpPr/>
          <p:nvPr/>
        </p:nvSpPr>
        <p:spPr>
          <a:xfrm>
            <a:off x="3657600" y="2006600"/>
            <a:ext cx="2263013" cy="44450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ROUND 3, SET ASIDE</a:t>
            </a:r>
            <a:endParaRPr lang="en-US" sz="1400" dirty="0"/>
          </a:p>
        </p:txBody>
      </p:sp>
      <p:sp>
        <p:nvSpPr>
          <p:cNvPr id="12" name="Text 10"/>
          <p:cNvSpPr/>
          <p:nvPr/>
        </p:nvSpPr>
        <p:spPr>
          <a:xfrm>
            <a:off x="3657600" y="2501900"/>
            <a:ext cx="2263013" cy="8636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EffNet vs “heard”, built on the small 8,000-song set, because “heard” only exists there.</a:t>
            </a:r>
            <a:endParaRPr lang="en-US" sz="1200" dirty="0"/>
          </a:p>
        </p:txBody>
      </p:sp>
      <p:sp>
        <p:nvSpPr>
          <p:cNvPr id="13" name="Text 11"/>
          <p:cNvSpPr/>
          <p:nvPr/>
        </p:nvSpPr>
        <p:spPr>
          <a:xfrm>
            <a:off x="3657600" y="3416300"/>
            <a:ext cx="2263013" cy="6540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 not sent:</a:t>
            </a:r>
            <a:r>
              <a:rPr lang="en-US" sz="1200" dirty="0">
                <a:solidFill>
                  <a:srgbClr val="B9BED3"/>
                </a:solidFill>
                <a:latin typeface="Poppins" pitchFamily="34" charset="0"/>
                <a:ea typeface="Poppins" pitchFamily="34" charset="-122"/>
                <a:cs typeface="Poppins" pitchFamily="34" charset="-120"/>
              </a:rPr>
              <a:t> by then the app used the big 24,757-song set and new steps.</a:t>
            </a:r>
            <a:endParaRPr lang="en-US" sz="1200" dirty="0"/>
          </a:p>
        </p:txBody>
      </p:sp>
      <p:sp>
        <p:nvSpPr>
          <p:cNvPr id="14" name="Shape 12"/>
          <p:cNvSpPr/>
          <p:nvPr/>
        </p:nvSpPr>
        <p:spPr>
          <a:xfrm>
            <a:off x="3657600" y="5080000"/>
            <a:ext cx="2197100" cy="584200"/>
          </a:xfrm>
          <a:prstGeom prst="roundRect">
            <a:avLst>
              <a:gd name="adj" fmla="val 15217"/>
            </a:avLst>
          </a:prstGeom>
          <a:solidFill>
            <a:srgbClr val="F6F3EB"/>
          </a:solidFill>
          <a:ln/>
        </p:spPr>
      </p:sp>
      <p:sp>
        <p:nvSpPr>
          <p:cNvPr id="15" name="Text 13"/>
          <p:cNvSpPr/>
          <p:nvPr/>
        </p:nvSpPr>
        <p:spPr>
          <a:xfrm>
            <a:off x="3771900" y="5168900"/>
            <a:ext cx="2027555" cy="4318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Never test an old version of the product</a:t>
            </a:r>
            <a:endParaRPr lang="en-US" sz="1200" dirty="0"/>
          </a:p>
        </p:txBody>
      </p:sp>
      <p:sp>
        <p:nvSpPr>
          <p:cNvPr id="16" name="Shape 14"/>
          <p:cNvSpPr/>
          <p:nvPr/>
        </p:nvSpPr>
        <p:spPr>
          <a:xfrm>
            <a:off x="6172200" y="1543050"/>
            <a:ext cx="2527300" cy="4298950"/>
          </a:xfrm>
          <a:prstGeom prst="roundRect">
            <a:avLst>
              <a:gd name="adj" fmla="val 5025"/>
            </a:avLst>
          </a:prstGeom>
          <a:solidFill>
            <a:srgbClr val="171B2E"/>
          </a:solidFill>
          <a:ln/>
        </p:spPr>
      </p:sp>
      <p:sp>
        <p:nvSpPr>
          <p:cNvPr id="17" name="Text 15"/>
          <p:cNvSpPr/>
          <p:nvPr/>
        </p:nvSpPr>
        <p:spPr>
          <a:xfrm>
            <a:off x="6337300" y="1720850"/>
            <a:ext cx="226301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F041"/>
                </a:solidFill>
                <a:latin typeface="Poppins" pitchFamily="34" charset="0"/>
                <a:ea typeface="Poppins" pitchFamily="34" charset="-122"/>
                <a:cs typeface="Poppins" pitchFamily="34" charset="-120"/>
              </a:rPr>
              <a:t>STEP 11</a:t>
            </a:r>
            <a:endParaRPr lang="en-US" sz="1200" dirty="0"/>
          </a:p>
        </p:txBody>
      </p:sp>
      <p:sp>
        <p:nvSpPr>
          <p:cNvPr id="18" name="Text 16"/>
          <p:cNvSpPr/>
          <p:nvPr/>
        </p:nvSpPr>
        <p:spPr>
          <a:xfrm>
            <a:off x="6337300" y="2006600"/>
            <a:ext cx="2263013"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ROUND 4</a:t>
            </a:r>
            <a:endParaRPr lang="en-US" sz="1400" dirty="0"/>
          </a:p>
        </p:txBody>
      </p:sp>
      <p:sp>
        <p:nvSpPr>
          <p:cNvPr id="19" name="Text 17"/>
          <p:cNvSpPr/>
          <p:nvPr/>
        </p:nvSpPr>
        <p:spPr>
          <a:xfrm>
            <a:off x="6337300" y="2292350"/>
            <a:ext cx="2263013"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42 pairs straight from the live app, pre-registered.</a:t>
            </a:r>
            <a:endParaRPr lang="en-US" sz="1200" dirty="0"/>
          </a:p>
        </p:txBody>
      </p:sp>
      <p:sp>
        <p:nvSpPr>
          <p:cNvPr id="20" name="Text 18"/>
          <p:cNvSpPr/>
          <p:nvPr/>
        </p:nvSpPr>
        <p:spPr>
          <a:xfrm>
            <a:off x="6337300" y="2787650"/>
            <a:ext cx="2263013"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test exactly what a user gets.</a:t>
            </a:r>
            <a:endParaRPr lang="en-US" sz="1200" dirty="0"/>
          </a:p>
        </p:txBody>
      </p:sp>
      <p:sp>
        <p:nvSpPr>
          <p:cNvPr id="21" name="Shape 19"/>
          <p:cNvSpPr/>
          <p:nvPr/>
        </p:nvSpPr>
        <p:spPr>
          <a:xfrm>
            <a:off x="6337300" y="4876800"/>
            <a:ext cx="2197100" cy="787400"/>
          </a:xfrm>
          <a:prstGeom prst="roundRect">
            <a:avLst>
              <a:gd name="adj" fmla="val 11290"/>
            </a:avLst>
          </a:prstGeom>
          <a:solidFill>
            <a:srgbClr val="C8F041"/>
          </a:solidFill>
          <a:ln/>
        </p:spPr>
      </p:sp>
      <p:sp>
        <p:nvSpPr>
          <p:cNvPr id="22" name="Text 20"/>
          <p:cNvSpPr/>
          <p:nvPr/>
        </p:nvSpPr>
        <p:spPr>
          <a:xfrm>
            <a:off x="6451600" y="4965700"/>
            <a:ext cx="2027555" cy="63500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Home and Bridge beat random; Adventure = random</a:t>
            </a:r>
            <a:endParaRPr lang="en-US" sz="1200" dirty="0"/>
          </a:p>
        </p:txBody>
      </p:sp>
      <p:sp>
        <p:nvSpPr>
          <p:cNvPr id="23" name="Shape 21"/>
          <p:cNvSpPr/>
          <p:nvPr/>
        </p:nvSpPr>
        <p:spPr>
          <a:xfrm>
            <a:off x="8851900" y="1543050"/>
            <a:ext cx="2527300" cy="4298950"/>
          </a:xfrm>
          <a:prstGeom prst="roundRect">
            <a:avLst>
              <a:gd name="adj" fmla="val 5025"/>
            </a:avLst>
          </a:prstGeom>
          <a:solidFill>
            <a:srgbClr val="171B2E"/>
          </a:solidFill>
          <a:ln/>
        </p:spPr>
      </p:sp>
      <p:sp>
        <p:nvSpPr>
          <p:cNvPr id="24" name="Text 22"/>
          <p:cNvSpPr/>
          <p:nvPr/>
        </p:nvSpPr>
        <p:spPr>
          <a:xfrm>
            <a:off x="9017000" y="1720850"/>
            <a:ext cx="226301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F041"/>
                </a:solidFill>
                <a:latin typeface="Poppins" pitchFamily="34" charset="0"/>
                <a:ea typeface="Poppins" pitchFamily="34" charset="-122"/>
                <a:cs typeface="Poppins" pitchFamily="34" charset="-120"/>
              </a:rPr>
              <a:t>STEP 12</a:t>
            </a:r>
            <a:endParaRPr lang="en-US" sz="1200" dirty="0"/>
          </a:p>
        </p:txBody>
      </p:sp>
      <p:sp>
        <p:nvSpPr>
          <p:cNvPr id="25" name="Text 23"/>
          <p:cNvSpPr/>
          <p:nvPr/>
        </p:nvSpPr>
        <p:spPr>
          <a:xfrm>
            <a:off x="9017000" y="2006600"/>
            <a:ext cx="2263013" cy="23495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6F3EB"/>
                </a:solidFill>
                <a:latin typeface="Unbounded" pitchFamily="34" charset="0"/>
                <a:ea typeface="Unbounded" pitchFamily="34" charset="-122"/>
                <a:cs typeface="Unbounded" pitchFamily="34" charset="-120"/>
              </a:rPr>
              <a:t>NEXT</a:t>
            </a:r>
            <a:endParaRPr lang="en-US" sz="1400" dirty="0"/>
          </a:p>
        </p:txBody>
      </p:sp>
      <p:sp>
        <p:nvSpPr>
          <p:cNvPr id="26" name="Text 24"/>
          <p:cNvSpPr/>
          <p:nvPr/>
        </p:nvSpPr>
        <p:spPr>
          <a:xfrm>
            <a:off x="9017000" y="2292350"/>
            <a:ext cx="2263013" cy="6540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Move Adventure closer (ranks ~400–1,400), more raters, test the Taste Map.</a:t>
            </a:r>
            <a:endParaRPr lang="en-US" sz="1200" dirty="0"/>
          </a:p>
        </p:txBody>
      </p:sp>
      <p:sp>
        <p:nvSpPr>
          <p:cNvPr id="27" name="Text 25"/>
          <p:cNvSpPr/>
          <p:nvPr/>
        </p:nvSpPr>
        <p:spPr>
          <a:xfrm>
            <a:off x="9017000" y="2997200"/>
            <a:ext cx="2263013"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9BED3"/>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the test showed exactly where it breaks.</a:t>
            </a:r>
            <a:endParaRPr lang="en-US" sz="1200" dirty="0"/>
          </a:p>
        </p:txBody>
      </p:sp>
      <p:sp>
        <p:nvSpPr>
          <p:cNvPr id="28" name="Text 26"/>
          <p:cNvSpPr/>
          <p:nvPr/>
        </p:nvSpPr>
        <p:spPr>
          <a:xfrm>
            <a:off x="9017000" y="5283200"/>
            <a:ext cx="2197100" cy="381000"/>
          </a:xfrm>
          <a:prstGeom prst="roundRect">
            <a:avLst>
              <a:gd name="adj" fmla="val 23333"/>
            </a:avLst>
          </a:prstGeom>
          <a:solidFill>
            <a:srgbClr val="F6F3EB"/>
          </a:solidFill>
          <a:ln/>
        </p:spPr>
        <p:txBody>
          <a:bodyPr wrap="square" lIns="88262" tIns="62862" rIns="29207" bIns="37462" rtlCol="0" anchor="t">
            <a:normAutofit/>
          </a:bodyPr>
          <a:lstStyle/>
          <a:p>
            <a:pPr algn="l" indent="0" marL="0">
              <a:lnSpc>
                <a:spcPts val="1620"/>
              </a:lnSpc>
              <a:buNone/>
            </a:pPr>
            <a:r>
              <a:rPr lang="en-US" sz="1200" b="1" dirty="0">
                <a:solidFill>
                  <a:srgbClr val="171B2E"/>
                </a:solidFill>
                <a:latin typeface="Poppins" pitchFamily="34" charset="0"/>
                <a:ea typeface="Poppins" pitchFamily="34" charset="-122"/>
                <a:cs typeface="Poppins" pitchFamily="34" charset="-120"/>
              </a:rPr>
              <a:t>→ Fix it, then listen again</a:t>
            </a:r>
            <a:endParaRPr lang="en-US" sz="1200" dirty="0"/>
          </a:p>
        </p:txBody>
      </p:sp>
      <p:sp>
        <p:nvSpPr>
          <p:cNvPr id="29" name="Text 27"/>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1B2E"/>
                </a:solidFill>
                <a:latin typeface="Poppins" pitchFamily="34" charset="0"/>
                <a:ea typeface="Poppins" pitchFamily="34" charset="-122"/>
                <a:cs typeface="Poppins" pitchFamily="34" charset="-120"/>
              </a:rPr>
              <a:t>At every turn, the listeners decided, not a number that only looked good.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B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C8F041"/>
                </a:solidFill>
                <a:latin typeface="Unbounded" pitchFamily="34" charset="0"/>
                <a:ea typeface="Unbounded" pitchFamily="34" charset="-122"/>
                <a:cs typeface="Unbounded" pitchFamily="34" charset="-120"/>
              </a:rPr>
              <a:t>THE RULER CHANGED</a:t>
            </a:r>
            <a:endParaRPr lang="en-US" sz="3600" dirty="0"/>
          </a:p>
        </p:txBody>
      </p:sp>
      <p:sp>
        <p:nvSpPr>
          <p:cNvPr id="3" name="Text 1"/>
          <p:cNvSpPr/>
          <p:nvPr/>
        </p:nvSpPr>
        <p:spPr>
          <a:xfrm>
            <a:off x="812800" y="1644650"/>
            <a:ext cx="3662680"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6F3EB"/>
                </a:solidFill>
                <a:latin typeface="Poppins" pitchFamily="34" charset="0"/>
                <a:ea typeface="Poppins" pitchFamily="34" charset="-122"/>
                <a:cs typeface="Poppins" pitchFamily="34" charset="-120"/>
              </a:rPr>
              <a:t>We first scored every model by genre match. Listeners showed that is not what they hear.</a:t>
            </a:r>
            <a:endParaRPr lang="en-US" sz="1600" dirty="0"/>
          </a:p>
        </p:txBody>
      </p:sp>
      <p:sp>
        <p:nvSpPr>
          <p:cNvPr id="4" name="Text 2"/>
          <p:cNvSpPr/>
          <p:nvPr/>
        </p:nvSpPr>
        <p:spPr>
          <a:xfrm>
            <a:off x="812800" y="2660650"/>
            <a:ext cx="3662680" cy="86360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ED3"/>
                </a:solidFill>
                <a:latin typeface="Poppins" pitchFamily="34" charset="0"/>
                <a:ea typeface="Poppins" pitchFamily="34" charset="-122"/>
                <a:cs typeface="Poppins" pitchFamily="34" charset="-120"/>
              </a:rPr>
              <a:t>So each model was judged by ear: does its sense of distance match people's 1–5 scores?</a:t>
            </a:r>
            <a:endParaRPr lang="en-US" sz="1600" dirty="0"/>
          </a:p>
        </p:txBody>
      </p:sp>
      <p:sp>
        <p:nvSpPr>
          <p:cNvPr id="5" name="Shape 3"/>
          <p:cNvSpPr/>
          <p:nvPr/>
        </p:nvSpPr>
        <p:spPr>
          <a:xfrm>
            <a:off x="812800" y="3676650"/>
            <a:ext cx="2693789" cy="311150"/>
          </a:xfrm>
          <a:prstGeom prst="roundRect">
            <a:avLst>
              <a:gd name="adj" fmla="val 50000"/>
            </a:avLst>
          </a:prstGeom>
          <a:solidFill>
            <a:srgbClr val="C8F041"/>
          </a:solidFill>
          <a:ln/>
        </p:spPr>
      </p:sp>
      <p:sp>
        <p:nvSpPr>
          <p:cNvPr id="6" name="Text 4"/>
          <p:cNvSpPr/>
          <p:nvPr/>
        </p:nvSpPr>
        <p:spPr>
          <a:xfrm>
            <a:off x="939800" y="3727450"/>
            <a:ext cx="2512983"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1B2E"/>
                </a:solidFill>
                <a:latin typeface="Poppins" pitchFamily="34" charset="0"/>
                <a:ea typeface="Poppins" pitchFamily="34" charset="-122"/>
                <a:cs typeface="Poppins" pitchFamily="34" charset="-120"/>
              </a:rPr>
              <a:t>Round 1 · baseline test · 80 pairs</a:t>
            </a:r>
            <a:endParaRPr lang="en-US" sz="1200" dirty="0"/>
          </a:p>
        </p:txBody>
      </p:sp>
      <p:sp>
        <p:nvSpPr>
          <p:cNvPr id="7" name="Shape 5"/>
          <p:cNvSpPr/>
          <p:nvPr/>
        </p:nvSpPr>
        <p:spPr>
          <a:xfrm>
            <a:off x="812800" y="4076700"/>
            <a:ext cx="3249910" cy="311150"/>
          </a:xfrm>
          <a:prstGeom prst="roundRect">
            <a:avLst>
              <a:gd name="adj" fmla="val 50000"/>
            </a:avLst>
          </a:prstGeom>
          <a:solidFill>
            <a:srgbClr val="FF86B9"/>
          </a:solidFill>
          <a:ln/>
        </p:spPr>
      </p:sp>
      <p:sp>
        <p:nvSpPr>
          <p:cNvPr id="8" name="Text 6"/>
          <p:cNvSpPr/>
          <p:nvPr/>
        </p:nvSpPr>
        <p:spPr>
          <a:xfrm>
            <a:off x="939800" y="4127500"/>
            <a:ext cx="3085787"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1B2E"/>
                </a:solidFill>
                <a:latin typeface="Poppins" pitchFamily="34" charset="0"/>
                <a:ea typeface="Poppins" pitchFamily="34" charset="-122"/>
                <a:cs typeface="Poppins" pitchFamily="34" charset="-120"/>
              </a:rPr>
              <a:t>Round 2 · “heard” vs baseline · 50 pairs</a:t>
            </a:r>
            <a:endParaRPr lang="en-US" sz="1200" dirty="0"/>
          </a:p>
        </p:txBody>
      </p:sp>
      <p:sp>
        <p:nvSpPr>
          <p:cNvPr id="9" name="Text 7"/>
          <p:cNvSpPr/>
          <p:nvPr/>
        </p:nvSpPr>
        <p:spPr>
          <a:xfrm>
            <a:off x="4876800" y="2120900"/>
            <a:ext cx="6697472"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BED3"/>
                </a:solidFill>
                <a:latin typeface="Poppins" pitchFamily="34" charset="0"/>
                <a:ea typeface="Poppins" pitchFamily="34" charset="-122"/>
                <a:cs typeface="Poppins" pitchFamily="34" charset="-120"/>
              </a:rPr>
              <a:t>518 features (baseline)</a:t>
            </a:r>
            <a:endParaRPr lang="en-US" sz="1400" dirty="0"/>
          </a:p>
        </p:txBody>
      </p:sp>
      <p:sp>
        <p:nvSpPr>
          <p:cNvPr id="10" name="Text 8"/>
          <p:cNvSpPr/>
          <p:nvPr/>
        </p:nvSpPr>
        <p:spPr>
          <a:xfrm>
            <a:off x="4876800" y="2463800"/>
            <a:ext cx="876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F041"/>
                </a:solidFill>
                <a:latin typeface="Poppins" pitchFamily="34" charset="0"/>
                <a:ea typeface="Poppins" pitchFamily="34" charset="-122"/>
                <a:cs typeface="Poppins" pitchFamily="34" charset="-120"/>
              </a:rPr>
              <a:t>Round 1</a:t>
            </a:r>
            <a:endParaRPr lang="en-US" sz="1200" dirty="0"/>
          </a:p>
        </p:txBody>
      </p:sp>
      <p:sp>
        <p:nvSpPr>
          <p:cNvPr id="11" name="Shape 9"/>
          <p:cNvSpPr/>
          <p:nvPr/>
        </p:nvSpPr>
        <p:spPr>
          <a:xfrm>
            <a:off x="5829300" y="2454275"/>
            <a:ext cx="685800" cy="228600"/>
          </a:xfrm>
          <a:prstGeom prst="roundRect">
            <a:avLst>
              <a:gd name="adj" fmla="val 22222"/>
            </a:avLst>
          </a:prstGeom>
          <a:solidFill>
            <a:srgbClr val="C8F041"/>
          </a:solidFill>
          <a:ln/>
        </p:spPr>
      </p:sp>
      <p:sp>
        <p:nvSpPr>
          <p:cNvPr id="12" name="Text 10"/>
          <p:cNvSpPr/>
          <p:nvPr/>
        </p:nvSpPr>
        <p:spPr>
          <a:xfrm>
            <a:off x="6642100" y="2444750"/>
            <a:ext cx="39302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B"/>
                </a:solidFill>
                <a:latin typeface="Poppins" pitchFamily="34" charset="0"/>
                <a:ea typeface="Poppins" pitchFamily="34" charset="-122"/>
                <a:cs typeface="Poppins" pitchFamily="34" charset="-120"/>
              </a:rPr>
              <a:t>0.12</a:t>
            </a:r>
            <a:endParaRPr lang="en-US" sz="1400" dirty="0"/>
          </a:p>
        </p:txBody>
      </p:sp>
      <p:sp>
        <p:nvSpPr>
          <p:cNvPr id="13" name="Text 11"/>
          <p:cNvSpPr/>
          <p:nvPr/>
        </p:nvSpPr>
        <p:spPr>
          <a:xfrm>
            <a:off x="4876800" y="2787650"/>
            <a:ext cx="876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6B9"/>
                </a:solidFill>
                <a:latin typeface="Poppins" pitchFamily="34" charset="0"/>
                <a:ea typeface="Poppins" pitchFamily="34" charset="-122"/>
                <a:cs typeface="Poppins" pitchFamily="34" charset="-120"/>
              </a:rPr>
              <a:t>Round 2</a:t>
            </a:r>
            <a:endParaRPr lang="en-US" sz="1200" dirty="0"/>
          </a:p>
        </p:txBody>
      </p:sp>
      <p:sp>
        <p:nvSpPr>
          <p:cNvPr id="14" name="Shape 12"/>
          <p:cNvSpPr/>
          <p:nvPr/>
        </p:nvSpPr>
        <p:spPr>
          <a:xfrm>
            <a:off x="5829300" y="2778125"/>
            <a:ext cx="2857500" cy="228600"/>
          </a:xfrm>
          <a:prstGeom prst="roundRect">
            <a:avLst>
              <a:gd name="adj" fmla="val 22222"/>
            </a:avLst>
          </a:prstGeom>
          <a:solidFill>
            <a:srgbClr val="FF86B9"/>
          </a:solidFill>
          <a:ln/>
        </p:spPr>
      </p:sp>
      <p:sp>
        <p:nvSpPr>
          <p:cNvPr id="15" name="Text 13"/>
          <p:cNvSpPr/>
          <p:nvPr/>
        </p:nvSpPr>
        <p:spPr>
          <a:xfrm>
            <a:off x="8813800" y="2768600"/>
            <a:ext cx="46863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B"/>
                </a:solidFill>
                <a:latin typeface="Poppins" pitchFamily="34" charset="0"/>
                <a:ea typeface="Poppins" pitchFamily="34" charset="-122"/>
                <a:cs typeface="Poppins" pitchFamily="34" charset="-120"/>
              </a:rPr>
              <a:t>0.50</a:t>
            </a:r>
            <a:endParaRPr lang="en-US" sz="1400" dirty="0"/>
          </a:p>
        </p:txBody>
      </p:sp>
      <p:sp>
        <p:nvSpPr>
          <p:cNvPr id="16" name="Text 14"/>
          <p:cNvSpPr/>
          <p:nvPr/>
        </p:nvSpPr>
        <p:spPr>
          <a:xfrm>
            <a:off x="4876800" y="3295650"/>
            <a:ext cx="6697472"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9BED3"/>
                </a:solidFill>
                <a:latin typeface="Poppins" pitchFamily="34" charset="0"/>
                <a:ea typeface="Poppins" pitchFamily="34" charset="-122"/>
                <a:cs typeface="Poppins" pitchFamily="34" charset="-120"/>
              </a:rPr>
              <a:t>“heard” (our own features)</a:t>
            </a:r>
            <a:endParaRPr lang="en-US" sz="1400" dirty="0"/>
          </a:p>
        </p:txBody>
      </p:sp>
      <p:sp>
        <p:nvSpPr>
          <p:cNvPr id="17" name="Text 15"/>
          <p:cNvSpPr/>
          <p:nvPr/>
        </p:nvSpPr>
        <p:spPr>
          <a:xfrm>
            <a:off x="4876800" y="3638550"/>
            <a:ext cx="876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F041"/>
                </a:solidFill>
                <a:latin typeface="Poppins" pitchFamily="34" charset="0"/>
                <a:ea typeface="Poppins" pitchFamily="34" charset="-122"/>
                <a:cs typeface="Poppins" pitchFamily="34" charset="-120"/>
              </a:rPr>
              <a:t>Round 1</a:t>
            </a:r>
            <a:endParaRPr lang="en-US" sz="1200" dirty="0"/>
          </a:p>
        </p:txBody>
      </p:sp>
      <p:sp>
        <p:nvSpPr>
          <p:cNvPr id="18" name="Shape 16"/>
          <p:cNvSpPr/>
          <p:nvPr/>
        </p:nvSpPr>
        <p:spPr>
          <a:xfrm>
            <a:off x="5829300" y="3629025"/>
            <a:ext cx="2228850" cy="228600"/>
          </a:xfrm>
          <a:prstGeom prst="roundRect">
            <a:avLst>
              <a:gd name="adj" fmla="val 22222"/>
            </a:avLst>
          </a:prstGeom>
          <a:solidFill>
            <a:srgbClr val="C8F041"/>
          </a:solidFill>
          <a:ln/>
        </p:spPr>
      </p:sp>
      <p:sp>
        <p:nvSpPr>
          <p:cNvPr id="19" name="Text 17"/>
          <p:cNvSpPr/>
          <p:nvPr/>
        </p:nvSpPr>
        <p:spPr>
          <a:xfrm>
            <a:off x="8185150" y="3619500"/>
            <a:ext cx="454700"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B"/>
                </a:solidFill>
                <a:latin typeface="Poppins" pitchFamily="34" charset="0"/>
                <a:ea typeface="Poppins" pitchFamily="34" charset="-122"/>
                <a:cs typeface="Poppins" pitchFamily="34" charset="-120"/>
              </a:rPr>
              <a:t>0.39</a:t>
            </a:r>
            <a:endParaRPr lang="en-US" sz="1400" dirty="0"/>
          </a:p>
        </p:txBody>
      </p:sp>
      <p:sp>
        <p:nvSpPr>
          <p:cNvPr id="20" name="Text 18"/>
          <p:cNvSpPr/>
          <p:nvPr/>
        </p:nvSpPr>
        <p:spPr>
          <a:xfrm>
            <a:off x="4876800" y="3962400"/>
            <a:ext cx="876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6B9"/>
                </a:solidFill>
                <a:latin typeface="Poppins" pitchFamily="34" charset="0"/>
                <a:ea typeface="Poppins" pitchFamily="34" charset="-122"/>
                <a:cs typeface="Poppins" pitchFamily="34" charset="-120"/>
              </a:rPr>
              <a:t>Round 2</a:t>
            </a:r>
            <a:endParaRPr lang="en-US" sz="1200" dirty="0"/>
          </a:p>
        </p:txBody>
      </p:sp>
      <p:sp>
        <p:nvSpPr>
          <p:cNvPr id="21" name="Shape 19"/>
          <p:cNvSpPr/>
          <p:nvPr/>
        </p:nvSpPr>
        <p:spPr>
          <a:xfrm>
            <a:off x="5829300" y="3952875"/>
            <a:ext cx="1885950" cy="228600"/>
          </a:xfrm>
          <a:prstGeom prst="roundRect">
            <a:avLst>
              <a:gd name="adj" fmla="val 22222"/>
            </a:avLst>
          </a:prstGeom>
          <a:solidFill>
            <a:srgbClr val="FF86B9"/>
          </a:solidFill>
          <a:ln/>
        </p:spPr>
      </p:sp>
      <p:sp>
        <p:nvSpPr>
          <p:cNvPr id="22" name="Text 20"/>
          <p:cNvSpPr/>
          <p:nvPr/>
        </p:nvSpPr>
        <p:spPr>
          <a:xfrm>
            <a:off x="7842250" y="3943350"/>
            <a:ext cx="44898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B"/>
                </a:solidFill>
                <a:latin typeface="Poppins" pitchFamily="34" charset="0"/>
                <a:ea typeface="Poppins" pitchFamily="34" charset="-122"/>
                <a:cs typeface="Poppins" pitchFamily="34" charset="-120"/>
              </a:rPr>
              <a:t>0.33</a:t>
            </a:r>
            <a:endParaRPr lang="en-US" sz="1400" dirty="0"/>
          </a:p>
        </p:txBody>
      </p:sp>
      <p:sp>
        <p:nvSpPr>
          <p:cNvPr id="23" name="Text 21"/>
          <p:cNvSpPr/>
          <p:nvPr/>
        </p:nvSpPr>
        <p:spPr>
          <a:xfrm>
            <a:off x="4876800" y="4470400"/>
            <a:ext cx="6697472"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B"/>
                </a:solidFill>
                <a:latin typeface="Poppins" pitchFamily="34" charset="0"/>
                <a:ea typeface="Poppins" pitchFamily="34" charset="-122"/>
                <a:cs typeface="Poppins" pitchFamily="34" charset="-120"/>
              </a:rPr>
              <a:t>EffNet (ships)</a:t>
            </a:r>
            <a:endParaRPr lang="en-US" sz="1400" dirty="0"/>
          </a:p>
        </p:txBody>
      </p:sp>
      <p:sp>
        <p:nvSpPr>
          <p:cNvPr id="24" name="Text 22"/>
          <p:cNvSpPr/>
          <p:nvPr/>
        </p:nvSpPr>
        <p:spPr>
          <a:xfrm>
            <a:off x="4876800" y="4813300"/>
            <a:ext cx="876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8F041"/>
                </a:solidFill>
                <a:latin typeface="Poppins" pitchFamily="34" charset="0"/>
                <a:ea typeface="Poppins" pitchFamily="34" charset="-122"/>
                <a:cs typeface="Poppins" pitchFamily="34" charset="-120"/>
              </a:rPr>
              <a:t>Round 1</a:t>
            </a:r>
            <a:endParaRPr lang="en-US" sz="1200" dirty="0"/>
          </a:p>
        </p:txBody>
      </p:sp>
      <p:sp>
        <p:nvSpPr>
          <p:cNvPr id="25" name="Shape 23"/>
          <p:cNvSpPr/>
          <p:nvPr/>
        </p:nvSpPr>
        <p:spPr>
          <a:xfrm>
            <a:off x="5829300" y="4803775"/>
            <a:ext cx="3371850" cy="228600"/>
          </a:xfrm>
          <a:prstGeom prst="roundRect">
            <a:avLst>
              <a:gd name="adj" fmla="val 22222"/>
            </a:avLst>
          </a:prstGeom>
          <a:solidFill>
            <a:srgbClr val="C8F041"/>
          </a:solidFill>
          <a:ln/>
        </p:spPr>
      </p:sp>
      <p:sp>
        <p:nvSpPr>
          <p:cNvPr id="26" name="Text 24"/>
          <p:cNvSpPr/>
          <p:nvPr/>
        </p:nvSpPr>
        <p:spPr>
          <a:xfrm>
            <a:off x="9328150" y="4794250"/>
            <a:ext cx="46922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B"/>
                </a:solidFill>
                <a:latin typeface="Poppins" pitchFamily="34" charset="0"/>
                <a:ea typeface="Poppins" pitchFamily="34" charset="-122"/>
                <a:cs typeface="Poppins" pitchFamily="34" charset="-120"/>
              </a:rPr>
              <a:t>0.59</a:t>
            </a:r>
            <a:endParaRPr lang="en-US" sz="1400" dirty="0"/>
          </a:p>
        </p:txBody>
      </p:sp>
      <p:sp>
        <p:nvSpPr>
          <p:cNvPr id="27" name="Text 25"/>
          <p:cNvSpPr/>
          <p:nvPr/>
        </p:nvSpPr>
        <p:spPr>
          <a:xfrm>
            <a:off x="4876800" y="5137150"/>
            <a:ext cx="876300"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86B9"/>
                </a:solidFill>
                <a:latin typeface="Poppins" pitchFamily="34" charset="0"/>
                <a:ea typeface="Poppins" pitchFamily="34" charset="-122"/>
                <a:cs typeface="Poppins" pitchFamily="34" charset="-120"/>
              </a:rPr>
              <a:t>Round 2</a:t>
            </a:r>
            <a:endParaRPr lang="en-US" sz="1200" dirty="0"/>
          </a:p>
        </p:txBody>
      </p:sp>
      <p:sp>
        <p:nvSpPr>
          <p:cNvPr id="28" name="Shape 26"/>
          <p:cNvSpPr/>
          <p:nvPr/>
        </p:nvSpPr>
        <p:spPr>
          <a:xfrm>
            <a:off x="5829300" y="5127625"/>
            <a:ext cx="4171950" cy="228600"/>
          </a:xfrm>
          <a:prstGeom prst="roundRect">
            <a:avLst>
              <a:gd name="adj" fmla="val 22222"/>
            </a:avLst>
          </a:prstGeom>
          <a:solidFill>
            <a:srgbClr val="FF86B9"/>
          </a:solidFill>
          <a:ln/>
        </p:spPr>
      </p:sp>
      <p:sp>
        <p:nvSpPr>
          <p:cNvPr id="29" name="Text 27"/>
          <p:cNvSpPr/>
          <p:nvPr/>
        </p:nvSpPr>
        <p:spPr>
          <a:xfrm>
            <a:off x="10128250" y="5118100"/>
            <a:ext cx="442555" cy="27305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6F3EB"/>
                </a:solidFill>
                <a:latin typeface="Poppins" pitchFamily="34" charset="0"/>
                <a:ea typeface="Poppins" pitchFamily="34" charset="-122"/>
                <a:cs typeface="Poppins" pitchFamily="34" charset="-120"/>
              </a:rPr>
              <a:t>0.73</a:t>
            </a:r>
            <a:endParaRPr lang="en-US" sz="1400" dirty="0"/>
          </a:p>
        </p:txBody>
      </p:sp>
      <p:sp>
        <p:nvSpPr>
          <p:cNvPr id="30" name="Text 28"/>
          <p:cNvSpPr/>
          <p:nvPr/>
        </p:nvSpPr>
        <p:spPr>
          <a:xfrm>
            <a:off x="812800" y="6032500"/>
            <a:ext cx="10883392" cy="4445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ED3"/>
                </a:solidFill>
                <a:latin typeface="Poppins" pitchFamily="34" charset="0"/>
                <a:ea typeface="Poppins" pitchFamily="34" charset="-122"/>
                <a:cs typeface="Poppins" pitchFamily="34" charset="-120"/>
              </a:rPr>
              <a:t>Agreement = rank correlation between a model's distance and the listeners' mean score; higher is closer to the ear. Computed after the ratings were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B"/>
        </a:solidFill>
      </p:bgPr>
    </p:bg>
    <p:spTree>
      <p:nvGrpSpPr>
        <p:cNvPr id="1" name=""/>
        <p:cNvGrpSpPr/>
        <p:nvPr/>
      </p:nvGrpSpPr>
      <p:grpSpPr>
        <a:xfrm>
          <a:off x="0" y="0"/>
          <a:ext cx="0" cy="0"/>
          <a:chOff x="0" y="0"/>
          <a:chExt cx="0" cy="0"/>
        </a:xfrm>
      </p:grpSpPr>
      <p:sp>
        <p:nvSpPr>
          <p:cNvPr id="2" name="Text 0"/>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63"/>
                </a:solidFill>
                <a:latin typeface="Poppins" pitchFamily="34" charset="0"/>
                <a:ea typeface="Poppins" pitchFamily="34" charset="-122"/>
                <a:cs typeface="Poppins" pitchFamily="34" charset="-120"/>
              </a:rPr>
              <a:t>Spotify/YouTube: one starting song, computer only. Listener rows: old ratings from rounds 1–2, checked afterwards.</a:t>
            </a:r>
            <a:endParaRPr lang="en-US" sz="1200" dirty="0"/>
          </a:p>
        </p:txBody>
      </p:sp>
      <p:sp>
        <p:nvSpPr>
          <p:cNvPr id="3" name="Text 1"/>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71B2E"/>
                </a:solidFill>
                <a:latin typeface="Unbounded" pitchFamily="34" charset="0"/>
                <a:ea typeface="Unbounded" pitchFamily="34" charset="-122"/>
                <a:cs typeface="Unbounded" pitchFamily="34" charset="-120"/>
              </a:rPr>
              <a:t>FROM HEARD TO EFFNET</a:t>
            </a:r>
            <a:endParaRPr lang="en-US" sz="3600" dirty="0"/>
          </a:p>
        </p:txBody>
      </p:sp>
      <p:sp>
        <p:nvSpPr>
          <p:cNvPr id="4" name="Text 2"/>
          <p:cNvSpPr/>
          <p:nvPr/>
        </p:nvSpPr>
        <p:spPr>
          <a:xfrm>
            <a:off x="812800" y="1517650"/>
            <a:ext cx="34010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63A7A"/>
                </a:solidFill>
                <a:latin typeface="Poppins" pitchFamily="34" charset="0"/>
                <a:ea typeface="Poppins" pitchFamily="34" charset="-122"/>
                <a:cs typeface="Poppins" pitchFamily="34" charset="-120"/>
              </a:rPr>
              <a:t>WHAT CHANGED</a:t>
            </a:r>
            <a:endParaRPr lang="en-US" sz="1200" dirty="0"/>
          </a:p>
        </p:txBody>
      </p:sp>
      <p:sp>
        <p:nvSpPr>
          <p:cNvPr id="5" name="Shape 3"/>
          <p:cNvSpPr/>
          <p:nvPr/>
        </p:nvSpPr>
        <p:spPr>
          <a:xfrm>
            <a:off x="812800" y="1828800"/>
            <a:ext cx="3302000" cy="711200"/>
          </a:xfrm>
          <a:prstGeom prst="roundRect">
            <a:avLst>
              <a:gd name="adj" fmla="val 14286"/>
            </a:avLst>
          </a:prstGeom>
          <a:solidFill>
            <a:srgbClr val="E9E5DA"/>
          </a:solidFill>
          <a:ln/>
        </p:spPr>
      </p:sp>
      <p:sp>
        <p:nvSpPr>
          <p:cNvPr id="6" name="Text 4"/>
          <p:cNvSpPr/>
          <p:nvPr/>
        </p:nvSpPr>
        <p:spPr>
          <a:xfrm>
            <a:off x="965200" y="1955800"/>
            <a:ext cx="3087116" cy="4826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1B2E"/>
                </a:solidFill>
                <a:latin typeface="Poppins" pitchFamily="34" charset="0"/>
                <a:ea typeface="Poppins" pitchFamily="34" charset="-122"/>
                <a:cs typeface="Poppins" pitchFamily="34" charset="-120"/>
              </a:rPr>
              <a:t>Before:</a:t>
            </a:r>
            <a:r>
              <a:rPr lang="en-US" sz="1300" dirty="0">
                <a:solidFill>
                  <a:srgbClr val="171B2E"/>
                </a:solidFill>
                <a:latin typeface="Poppins" pitchFamily="34" charset="0"/>
                <a:ea typeface="Poppins" pitchFamily="34" charset="-122"/>
                <a:cs typeface="Poppins" pitchFamily="34" charset="-120"/>
              </a:rPr>
              <a:t> 154 hand-made features → 57 numbers</a:t>
            </a:r>
            <a:endParaRPr lang="en-US" sz="1300" dirty="0"/>
          </a:p>
        </p:txBody>
      </p:sp>
      <p:sp>
        <p:nvSpPr>
          <p:cNvPr id="7" name="Shape 5"/>
          <p:cNvSpPr/>
          <p:nvPr/>
        </p:nvSpPr>
        <p:spPr>
          <a:xfrm>
            <a:off x="812800" y="2641600"/>
            <a:ext cx="3302000" cy="711200"/>
          </a:xfrm>
          <a:prstGeom prst="roundRect">
            <a:avLst>
              <a:gd name="adj" fmla="val 14286"/>
            </a:avLst>
          </a:prstGeom>
          <a:solidFill>
            <a:srgbClr val="C8F041"/>
          </a:solidFill>
          <a:ln/>
        </p:spPr>
      </p:sp>
      <p:sp>
        <p:nvSpPr>
          <p:cNvPr id="8" name="Text 6"/>
          <p:cNvSpPr/>
          <p:nvPr/>
        </p:nvSpPr>
        <p:spPr>
          <a:xfrm>
            <a:off x="965200" y="2768600"/>
            <a:ext cx="3087116" cy="48260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71B2E"/>
                </a:solidFill>
                <a:latin typeface="Poppins" pitchFamily="34" charset="0"/>
                <a:ea typeface="Poppins" pitchFamily="34" charset="-122"/>
                <a:cs typeface="Poppins" pitchFamily="34" charset="-120"/>
              </a:rPr>
              <a:t>After:</a:t>
            </a:r>
            <a:r>
              <a:rPr lang="en-US" sz="1300" dirty="0">
                <a:solidFill>
                  <a:srgbClr val="171B2E"/>
                </a:solidFill>
                <a:latin typeface="Poppins" pitchFamily="34" charset="0"/>
                <a:ea typeface="Poppins" pitchFamily="34" charset="-122"/>
                <a:cs typeface="Poppins" pitchFamily="34" charset="-120"/>
              </a:rPr>
              <a:t> a pre-trained network → 1,280 numbers</a:t>
            </a:r>
            <a:endParaRPr lang="en-US" sz="1300" dirty="0"/>
          </a:p>
        </p:txBody>
      </p:sp>
      <p:sp>
        <p:nvSpPr>
          <p:cNvPr id="9" name="Text 7"/>
          <p:cNvSpPr/>
          <p:nvPr/>
        </p:nvSpPr>
        <p:spPr>
          <a:xfrm>
            <a:off x="812800" y="3454400"/>
            <a:ext cx="3401060"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4"/>
                </a:solidFill>
                <a:latin typeface="Poppins" pitchFamily="34" charset="0"/>
                <a:ea typeface="Poppins" pitchFamily="34" charset="-122"/>
                <a:cs typeface="Poppins" pitchFamily="34" charset="-120"/>
              </a:rPr>
              <a:t>WHAT STAYED</a:t>
            </a:r>
            <a:endParaRPr lang="en-US" sz="1200" dirty="0"/>
          </a:p>
        </p:txBody>
      </p:sp>
      <p:sp>
        <p:nvSpPr>
          <p:cNvPr id="10" name="Shape 8"/>
          <p:cNvSpPr/>
          <p:nvPr/>
        </p:nvSpPr>
        <p:spPr>
          <a:xfrm>
            <a:off x="819150" y="3771900"/>
            <a:ext cx="3289300" cy="723900"/>
          </a:xfrm>
          <a:prstGeom prst="roundRect">
            <a:avLst>
              <a:gd name="adj" fmla="val 13158"/>
            </a:avLst>
          </a:prstGeom>
          <a:solidFill>
            <a:srgbClr val="FBFAF5"/>
          </a:solidFill>
          <a:ln w="12700">
            <a:solidFill>
              <a:srgbClr val="171B2E"/>
            </a:solidFill>
            <a:prstDash val="solid"/>
          </a:ln>
        </p:spPr>
      </p:sp>
      <p:sp>
        <p:nvSpPr>
          <p:cNvPr id="11" name="Text 9"/>
          <p:cNvSpPr/>
          <p:nvPr/>
        </p:nvSpPr>
        <p:spPr>
          <a:xfrm>
            <a:off x="977900" y="3905250"/>
            <a:ext cx="3060954"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71B2E"/>
                </a:solidFill>
                <a:latin typeface="Poppins" pitchFamily="34" charset="0"/>
                <a:ea typeface="Poppins" pitchFamily="34" charset="-122"/>
                <a:cs typeface="Poppins" pitchFamily="34" charset="-120"/>
              </a:rPr>
              <a:t>Distance, ranking and the dial. Only the song's fingerprint changed.</a:t>
            </a:r>
            <a:endParaRPr lang="en-US" sz="1300" dirty="0"/>
          </a:p>
        </p:txBody>
      </p:sp>
      <p:sp>
        <p:nvSpPr>
          <p:cNvPr id="12" name="Text 10"/>
          <p:cNvSpPr/>
          <p:nvPr/>
        </p:nvSpPr>
        <p:spPr>
          <a:xfrm>
            <a:off x="4419600" y="1517650"/>
            <a:ext cx="716838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63A7A"/>
                </a:solidFill>
                <a:latin typeface="Poppins" pitchFamily="34" charset="0"/>
                <a:ea typeface="Poppins" pitchFamily="34" charset="-122"/>
                <a:cs typeface="Poppins" pitchFamily="34" charset="-120"/>
              </a:rPr>
              <a:t>WHY WE SWITCHED: “HEARD” TIED THE BASELINE IN ROUND 2</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432300" y="1854200"/>
          <a:ext cx="6946900" cy="2381746"/>
        </p:xfrm>
        <a:graphic>
          <a:graphicData uri="http://schemas.openxmlformats.org/drawingml/2006/table">
            <a:tbl>
              <a:tblPr/>
              <a:tblGrid>
                <a:gridCol w="3334512"/>
                <a:gridCol w="1806194"/>
                <a:gridCol w="1806194"/>
              </a:tblGrid>
              <a:tr h="359271">
                <a:tc>
                  <a:txBody>
                    <a:bodyPr/>
                    <a:lstStyle/>
                    <a:p>
                      <a:pPr indent="0" marL="0">
                        <a:lnSpc>
                          <a:spcPts val="1820"/>
                        </a:lnSpc>
                        <a:buNone/>
                      </a:pPr>
                      <a:r>
                        <a:rPr lang="en-US" sz="1300" b="1" dirty="0">
                          <a:solidFill>
                            <a:srgbClr val="171B2E"/>
                          </a:solidFill>
                          <a:latin typeface="Poppins" pitchFamily="34" charset="0"/>
                          <a:ea typeface="Poppins" pitchFamily="34" charset="-122"/>
                          <a:cs typeface="Poppins" pitchFamily="34" charset="-120"/>
                        </a:rPr>
                        <a:t>Check</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c>
                  <a:txBody>
                    <a:bodyPr/>
                    <a:lstStyle/>
                    <a:p>
                      <a:pPr algn="r" indent="0" marL="0">
                        <a:lnSpc>
                          <a:spcPts val="1820"/>
                        </a:lnSpc>
                        <a:buNone/>
                      </a:pPr>
                      <a:r>
                        <a:rPr lang="en-US" sz="1300" b="1" dirty="0">
                          <a:solidFill>
                            <a:srgbClr val="171B2E"/>
                          </a:solidFill>
                          <a:latin typeface="Poppins" pitchFamily="34" charset="0"/>
                          <a:ea typeface="Poppins" pitchFamily="34" charset="-122"/>
                          <a:cs typeface="Poppins" pitchFamily="34" charset="-120"/>
                        </a:rPr>
                        <a:t>“heard”</a:t>
                      </a:r>
                      <a:endParaRPr lang="en-US" sz="1300" dirty="0">
                        <a:latin typeface="Poppins" charset="0"/>
                        <a:ea typeface="Poppins" charset="0"/>
                        <a:cs typeface="Poppins" charset="0"/>
                      </a:endParaRPr>
                    </a:p>
                  </a:txBody>
                  <a:tcPr marL="57785" marR="57785" marT="57785" marB="57785" anchor="t">
                    <a:lnL w="12700" cap="flat" cmpd="sng" algn="ctr">
                      <a:solidFill>
                        <a:srgbClr val="B6B4AE"/>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c>
                  <a:txBody>
                    <a:bodyPr/>
                    <a:lstStyle/>
                    <a:p>
                      <a:pPr algn="r" indent="0" marL="0">
                        <a:lnSpc>
                          <a:spcPts val="1820"/>
                        </a:lnSpc>
                        <a:buNone/>
                      </a:pPr>
                      <a:r>
                        <a:rPr lang="en-US" sz="1300" b="1" dirty="0">
                          <a:solidFill>
                            <a:srgbClr val="171B2E"/>
                          </a:solidFill>
                          <a:latin typeface="Poppins" pitchFamily="34" charset="0"/>
                          <a:ea typeface="Poppins" pitchFamily="34" charset="-122"/>
                          <a:cs typeface="Poppins" pitchFamily="34" charset="-120"/>
                        </a:rPr>
                        <a:t>EffNet</a:t>
                      </a:r>
                      <a:endParaRPr lang="en-US" sz="1300" dirty="0">
                        <a:latin typeface="Poppins" charset="0"/>
                        <a:ea typeface="Poppins" charset="0"/>
                        <a:cs typeface="Poppins" charset="0"/>
                      </a:endParaRPr>
                    </a:p>
                  </a:txBody>
                  <a:tcPr marL="57785" marR="57785" marT="57785" marB="57785" anchor="t">
                    <a:lnL w="12700" cap="flat" cmpd="sng" algn="ctr">
                      <a:solidFill>
                        <a:srgbClr val="B6B4AE"/>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r>
              <a:tr h="359271">
                <a:tc>
                  <a:txBody>
                    <a:bodyPr/>
                    <a:lstStyle/>
                    <a:p>
                      <a:pPr indent="0" marL="0">
                        <a:lnSpc>
                          <a:spcPts val="1820"/>
                        </a:lnSpc>
                        <a:buNone/>
                      </a:pPr>
                      <a:r>
                        <a:rPr lang="en-US" sz="1300" dirty="0">
                          <a:solidFill>
                            <a:srgbClr val="171B2E"/>
                          </a:solidFill>
                          <a:latin typeface="Poppins" pitchFamily="34" charset="0"/>
                          <a:ea typeface="Poppins" pitchFamily="34" charset="-122"/>
                          <a:cs typeface="Poppins" pitchFamily="34" charset="-120"/>
                        </a:rPr>
                        <a:t>Spotify's own picks land at</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171B2E"/>
                          </a:solidFill>
                          <a:latin typeface="Poppins" pitchFamily="34" charset="0"/>
                          <a:ea typeface="Poppins" pitchFamily="34" charset="-122"/>
                          <a:cs typeface="Poppins" pitchFamily="34" charset="-120"/>
                        </a:rPr>
                        <a:t>rank ~690</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2F6FE4"/>
                          </a:solidFill>
                          <a:latin typeface="Poppins" pitchFamily="34" charset="0"/>
                          <a:ea typeface="Poppins" pitchFamily="34" charset="-122"/>
                          <a:cs typeface="Poppins" pitchFamily="34" charset="-120"/>
                        </a:rPr>
                        <a:t>rank ~14</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71B2E"/>
                          </a:solidFill>
                          <a:latin typeface="Poppins" pitchFamily="34" charset="0"/>
                          <a:ea typeface="Poppins" pitchFamily="34" charset="-122"/>
                          <a:cs typeface="Poppins" pitchFamily="34" charset="-120"/>
                        </a:rPr>
                        <a:t>YouTube's own picks land at</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171B2E"/>
                          </a:solidFill>
                          <a:latin typeface="Poppins" pitchFamily="34" charset="0"/>
                          <a:ea typeface="Poppins" pitchFamily="34" charset="-122"/>
                          <a:cs typeface="Poppins" pitchFamily="34" charset="-120"/>
                        </a:rPr>
                        <a:t>rank ~410</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2F6FE4"/>
                          </a:solidFill>
                          <a:latin typeface="Poppins" pitchFamily="34" charset="0"/>
                          <a:ea typeface="Poppins" pitchFamily="34" charset="-122"/>
                          <a:cs typeface="Poppins" pitchFamily="34" charset="-120"/>
                        </a:rPr>
                        <a:t>rank ~9</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71B2E"/>
                          </a:solidFill>
                          <a:latin typeface="Poppins" pitchFamily="34" charset="0"/>
                          <a:ea typeface="Poppins" pitchFamily="34" charset="-122"/>
                          <a:cs typeface="Poppins" pitchFamily="34" charset="-120"/>
                        </a:rPr>
                        <a:t>Agrees with listeners (round 1 / 2)</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171B2E"/>
                          </a:solidFill>
                          <a:latin typeface="Poppins" pitchFamily="34" charset="0"/>
                          <a:ea typeface="Poppins" pitchFamily="34" charset="-122"/>
                          <a:cs typeface="Poppins" pitchFamily="34" charset="-120"/>
                        </a:rPr>
                        <a:t>0.39 / 0.33</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2F6FE4"/>
                          </a:solidFill>
                          <a:latin typeface="Poppins" pitchFamily="34" charset="0"/>
                          <a:ea typeface="Poppins" pitchFamily="34" charset="-122"/>
                          <a:cs typeface="Poppins" pitchFamily="34" charset="-120"/>
                        </a:rPr>
                        <a:t>0.59 / 0.73</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585391">
                <a:tc>
                  <a:txBody>
                    <a:bodyPr/>
                    <a:lstStyle/>
                    <a:p>
                      <a:pPr indent="0" marL="0">
                        <a:lnSpc>
                          <a:spcPts val="1820"/>
                        </a:lnSpc>
                        <a:buNone/>
                      </a:pPr>
                      <a:r>
                        <a:rPr lang="en-US" sz="1300" dirty="0">
                          <a:solidFill>
                            <a:srgbClr val="171B2E"/>
                          </a:solidFill>
                          <a:latin typeface="Poppins" pitchFamily="34" charset="0"/>
                          <a:ea typeface="Poppins" pitchFamily="34" charset="-122"/>
                          <a:cs typeface="Poppins" pitchFamily="34" charset="-120"/>
                        </a:rPr>
                        <a:t>People's score for its closest → middle → farthest picks</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171B2E"/>
                          </a:solidFill>
                          <a:latin typeface="Poppins" pitchFamily="34" charset="0"/>
                          <a:ea typeface="Poppins" pitchFamily="34" charset="-122"/>
                          <a:cs typeface="Poppins" pitchFamily="34" charset="-120"/>
                        </a:rPr>
                        <a:t>3.4 → 3.5 → 2.8</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2F6FE4"/>
                          </a:solidFill>
                          <a:latin typeface="Poppins" pitchFamily="34" charset="0"/>
                          <a:ea typeface="Poppins" pitchFamily="34" charset="-122"/>
                          <a:cs typeface="Poppins" pitchFamily="34" charset="-120"/>
                        </a:rPr>
                        <a:t>4.1 → 3.1 → 2.3</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59271">
                <a:tc>
                  <a:txBody>
                    <a:bodyPr/>
                    <a:lstStyle/>
                    <a:p>
                      <a:pPr indent="0" marL="0">
                        <a:lnSpc>
                          <a:spcPts val="1820"/>
                        </a:lnSpc>
                        <a:buNone/>
                      </a:pPr>
                      <a:r>
                        <a:rPr lang="en-US" sz="1300" dirty="0">
                          <a:solidFill>
                            <a:srgbClr val="171B2E"/>
                          </a:solidFill>
                          <a:latin typeface="Poppins" pitchFamily="34" charset="0"/>
                          <a:ea typeface="Poppins" pitchFamily="34" charset="-122"/>
                          <a:cs typeface="Poppins" pitchFamily="34" charset="-120"/>
                        </a:rPr>
                        <a:t>Songs it can describe</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171B2E"/>
                          </a:solidFill>
                          <a:latin typeface="Poppins" pitchFamily="34" charset="0"/>
                          <a:ea typeface="Poppins" pitchFamily="34" charset="-122"/>
                          <a:cs typeface="Poppins" pitchFamily="34" charset="-120"/>
                        </a:rPr>
                        <a:t>8,000</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820"/>
                        </a:lnSpc>
                        <a:buNone/>
                      </a:pPr>
                      <a:r>
                        <a:rPr lang="en-US" sz="1300" dirty="0">
                          <a:solidFill>
                            <a:srgbClr val="2F6FE4"/>
                          </a:solidFill>
                          <a:latin typeface="Poppins" pitchFamily="34" charset="0"/>
                          <a:ea typeface="Poppins" pitchFamily="34" charset="-122"/>
                          <a:cs typeface="Poppins" pitchFamily="34" charset="-120"/>
                        </a:rPr>
                        <a:t>24,757</a:t>
                      </a:r>
                      <a:endParaRPr lang="en-US" sz="1300" dirty="0">
                        <a:latin typeface="Poppins" charset="0"/>
                        <a:ea typeface="Poppins" charset="0"/>
                        <a:cs typeface="Poppins" charset="0"/>
                      </a:endParaRPr>
                    </a:p>
                  </a:txBody>
                  <a:tcPr marL="57785" marR="57785" marT="57785" marB="57785"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bl>
          </a:graphicData>
        </a:graphic>
      </p:graphicFrame>
      <p:sp>
        <p:nvSpPr>
          <p:cNvPr id="14" name="Text 11"/>
          <p:cNvSpPr/>
          <p:nvPr/>
        </p:nvSpPr>
        <p:spPr>
          <a:xfrm>
            <a:off x="4419600" y="4350246"/>
            <a:ext cx="7168388"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63"/>
                </a:solidFill>
                <a:latin typeface="Poppins" pitchFamily="34" charset="0"/>
                <a:ea typeface="Poppins" pitchFamily="34" charset="-122"/>
                <a:cs typeface="Poppins" pitchFamily="34" charset="-120"/>
              </a:rPr>
              <a:t>Rank: of ~8,000 songs, lower = closer. Agreement: 1 = always, 0 = never.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1B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C8F041"/>
                </a:solidFill>
                <a:latin typeface="Unbounded" pitchFamily="34" charset="0"/>
                <a:ea typeface="Unbounded" pitchFamily="34" charset="-122"/>
                <a:cs typeface="Unbounded" pitchFamily="34" charset="-120"/>
              </a:rPr>
              <a:t>WHAT IS EFFNET?</a:t>
            </a:r>
            <a:endParaRPr lang="en-US" sz="3600" dirty="0"/>
          </a:p>
        </p:txBody>
      </p:sp>
      <p:sp>
        <p:nvSpPr>
          <p:cNvPr id="3" name="Text 1"/>
          <p:cNvSpPr/>
          <p:nvPr/>
        </p:nvSpPr>
        <p:spPr>
          <a:xfrm>
            <a:off x="812800" y="14922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6F3EB"/>
                </a:solidFill>
                <a:latin typeface="Poppins" pitchFamily="34" charset="0"/>
                <a:ea typeface="Poppins" pitchFamily="34" charset="-122"/>
                <a:cs typeface="Poppins" pitchFamily="34" charset="-120"/>
              </a:rPr>
              <a:t>A ready-made neural network for music. It listens to a song and describes it with </a:t>
            </a:r>
            <a:r>
              <a:rPr lang="en-US" sz="1500" b="1" dirty="0">
                <a:solidFill>
                  <a:srgbClr val="C8F041"/>
                </a:solidFill>
                <a:latin typeface="Poppins" pitchFamily="34" charset="0"/>
                <a:ea typeface="Poppins" pitchFamily="34" charset="-122"/>
                <a:cs typeface="Poppins" pitchFamily="34" charset="-120"/>
              </a:rPr>
              <a:t>1,280 numbers</a:t>
            </a:r>
            <a:r>
              <a:rPr lang="en-US" sz="1500" dirty="0">
                <a:solidFill>
                  <a:srgbClr val="F6F3EB"/>
                </a:solidFill>
                <a:latin typeface="Poppins" pitchFamily="34" charset="0"/>
                <a:ea typeface="Poppins" pitchFamily="34" charset="-122"/>
                <a:cs typeface="Poppins" pitchFamily="34" charset="-120"/>
              </a:rPr>
              <a:t>.</a:t>
            </a:r>
            <a:endParaRPr lang="en-US" sz="1500" dirty="0"/>
          </a:p>
        </p:txBody>
      </p:sp>
      <p:sp>
        <p:nvSpPr>
          <p:cNvPr id="4" name="Shape 2"/>
          <p:cNvSpPr/>
          <p:nvPr/>
        </p:nvSpPr>
        <p:spPr>
          <a:xfrm>
            <a:off x="812800" y="1962150"/>
            <a:ext cx="5461000" cy="3879850"/>
          </a:xfrm>
          <a:prstGeom prst="roundRect">
            <a:avLst>
              <a:gd name="adj" fmla="val 3928"/>
            </a:avLst>
          </a:prstGeom>
          <a:solidFill>
            <a:srgbClr val="232842"/>
          </a:solidFill>
          <a:ln/>
        </p:spPr>
      </p:sp>
      <p:sp>
        <p:nvSpPr>
          <p:cNvPr id="5" name="Text 3"/>
          <p:cNvSpPr/>
          <p:nvPr/>
        </p:nvSpPr>
        <p:spPr>
          <a:xfrm>
            <a:off x="1016000" y="2139950"/>
            <a:ext cx="5206238"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F041"/>
                </a:solidFill>
                <a:latin typeface="Poppins" pitchFamily="34" charset="0"/>
                <a:ea typeface="Poppins" pitchFamily="34" charset="-122"/>
                <a:cs typeface="Poppins" pitchFamily="34" charset="-120"/>
              </a:rPr>
              <a:t>FROM THE MAKERS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28700" y="2451100"/>
          <a:ext cx="5041900" cy="2818606"/>
        </p:xfrm>
        <a:graphic>
          <a:graphicData uri="http://schemas.openxmlformats.org/drawingml/2006/table">
            <a:tbl>
              <a:tblPr/>
              <a:tblGrid>
                <a:gridCol w="1310894"/>
                <a:gridCol w="3731006"/>
              </a:tblGrid>
              <a:tr h="332581">
                <a:tc>
                  <a:txBody>
                    <a:bodyPr/>
                    <a:lstStyle/>
                    <a:p>
                      <a:pPr indent="0" marL="0">
                        <a:lnSpc>
                          <a:spcPts val="1680"/>
                        </a:lnSpc>
                        <a:buNone/>
                      </a:pPr>
                      <a:r>
                        <a:rPr lang="en-US" sz="1200" b="1" dirty="0">
                          <a:solidFill>
                            <a:srgbClr val="F6F3EB"/>
                          </a:solidFill>
                          <a:latin typeface="Poppins" pitchFamily="34" charset="0"/>
                          <a:ea typeface="Poppins" pitchFamily="34" charset="-122"/>
                          <a:cs typeface="Poppins" pitchFamily="34" charset="-120"/>
                        </a:rPr>
                        <a:t>Model</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606374"/>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606374"/>
                      </a:solidFill>
                      <a:prstDash val="solid"/>
                      <a:round/>
                      <a:headEnd type="none" w="med" len="med"/>
                      <a:tailEnd type="none" w="med" len="med"/>
                    </a:lnB>
                    <a:solidFill>
                      <a:srgbClr val="343950"/>
                    </a:solidFill>
                  </a:tcPr>
                </a:tc>
                <a:tc>
                  <a:txBody>
                    <a:bodyPr/>
                    <a:lstStyle/>
                    <a:p>
                      <a:pPr indent="0" marL="0">
                        <a:lnSpc>
                          <a:spcPts val="1680"/>
                        </a:lnSpc>
                        <a:buNone/>
                      </a:pPr>
                      <a:r>
                        <a:rPr lang="en-US" sz="1200" b="1" dirty="0">
                          <a:solidFill>
                            <a:srgbClr val="F6F3EB"/>
                          </a:solidFill>
                          <a:latin typeface="Poppins" pitchFamily="34" charset="0"/>
                          <a:ea typeface="Poppins" pitchFamily="34" charset="-122"/>
                          <a:cs typeface="Poppins" pitchFamily="34" charset="-120"/>
                        </a:rPr>
                        <a:t>Discogs-EffNet, part of Essentia</a:t>
                      </a:r>
                      <a:endParaRPr lang="en-US" sz="1200" dirty="0">
                        <a:latin typeface="Poppins" charset="0"/>
                        <a:ea typeface="Poppins" charset="0"/>
                        <a:cs typeface="Poppins" charset="0"/>
                      </a:endParaRPr>
                    </a:p>
                  </a:txBody>
                  <a:tcPr marL="53340" marR="53340" marT="53340" marB="53340" anchor="t">
                    <a:lnL w="12700" cap="flat" cmpd="sng" algn="ctr">
                      <a:solidFill>
                        <a:srgbClr val="606374"/>
                      </a:solidFill>
                      <a:prstDash val="solid"/>
                      <a:round/>
                      <a:headEnd type="none" w="med" len="med"/>
                      <a:tailEnd type="none" w="med" len="med"/>
                    </a:lnL>
                    <a:lnR w="12700" cap="flat" cmpd="sng" algn="ctr">
                      <a:solidFill>
                        <a:srgbClr val="606374"/>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606374"/>
                      </a:solidFill>
                      <a:prstDash val="solid"/>
                      <a:round/>
                      <a:headEnd type="none" w="med" len="med"/>
                      <a:tailEnd type="none" w="med" len="med"/>
                    </a:lnB>
                    <a:solidFill>
                      <a:srgbClr val="343950"/>
                    </a:solidFill>
                  </a:tcPr>
                </a:tc>
              </a:tr>
              <a:tr h="538361">
                <a:tc>
                  <a:txBody>
                    <a:bodyPr/>
                    <a:lstStyle/>
                    <a:p>
                      <a:pPr indent="0" marL="0">
                        <a:lnSpc>
                          <a:spcPts val="1680"/>
                        </a:lnSpc>
                        <a:buNone/>
                      </a:pPr>
                      <a:r>
                        <a:rPr lang="en-US" sz="1200" dirty="0">
                          <a:solidFill>
                            <a:srgbClr val="B9BED3"/>
                          </a:solidFill>
                          <a:latin typeface="Poppins" pitchFamily="34" charset="0"/>
                          <a:ea typeface="Poppins" pitchFamily="34" charset="-122"/>
                          <a:cs typeface="Poppins" pitchFamily="34" charset="-120"/>
                        </a:rPr>
                        <a:t>Made by</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606374"/>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c>
                  <a:txBody>
                    <a:bodyPr/>
                    <a:lstStyle/>
                    <a:p>
                      <a:pPr indent="0" marL="0">
                        <a:lnSpc>
                          <a:spcPts val="1680"/>
                        </a:lnSpc>
                        <a:buNone/>
                      </a:pPr>
                      <a:r>
                        <a:rPr lang="en-US" sz="1200" dirty="0">
                          <a:solidFill>
                            <a:srgbClr val="F6F3EB"/>
                          </a:solidFill>
                          <a:latin typeface="Poppins" pitchFamily="34" charset="0"/>
                          <a:ea typeface="Poppins" pitchFamily="34" charset="-122"/>
                          <a:cs typeface="Poppins" pitchFamily="34" charset="-120"/>
                        </a:rPr>
                        <a:t>Music Technology Group, Universitat Pompeu Fabra, Barcelona</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606374"/>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r>
              <a:tr h="538361">
                <a:tc>
                  <a:txBody>
                    <a:bodyPr/>
                    <a:lstStyle/>
                    <a:p>
                      <a:pPr indent="0" marL="0">
                        <a:lnSpc>
                          <a:spcPts val="1680"/>
                        </a:lnSpc>
                        <a:buNone/>
                      </a:pPr>
                      <a:r>
                        <a:rPr lang="en-US" sz="1200" dirty="0">
                          <a:solidFill>
                            <a:srgbClr val="B9BED3"/>
                          </a:solidFill>
                          <a:latin typeface="Poppins" pitchFamily="34" charset="0"/>
                          <a:ea typeface="Poppins" pitchFamily="34" charset="-122"/>
                          <a:cs typeface="Poppins" pitchFamily="34" charset="-120"/>
                        </a:rPr>
                        <a:t>Built on</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c>
                  <a:txBody>
                    <a:bodyPr/>
                    <a:lstStyle/>
                    <a:p>
                      <a:pPr indent="0" marL="0">
                        <a:lnSpc>
                          <a:spcPts val="1680"/>
                        </a:lnSpc>
                        <a:buNone/>
                      </a:pPr>
                      <a:r>
                        <a:rPr lang="en-US" sz="1200" dirty="0">
                          <a:solidFill>
                            <a:srgbClr val="F6F3EB"/>
                          </a:solidFill>
                          <a:latin typeface="Poppins" pitchFamily="34" charset="0"/>
                          <a:ea typeface="Poppins" pitchFamily="34" charset="-122"/>
                          <a:cs typeface="Poppins" pitchFamily="34" charset="-120"/>
                        </a:rPr>
                        <a:t>EfficientNet, a network design first made for images</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r>
              <a:tr h="538361">
                <a:tc>
                  <a:txBody>
                    <a:bodyPr/>
                    <a:lstStyle/>
                    <a:p>
                      <a:pPr indent="0" marL="0">
                        <a:lnSpc>
                          <a:spcPts val="1680"/>
                        </a:lnSpc>
                        <a:buNone/>
                      </a:pPr>
                      <a:r>
                        <a:rPr lang="en-US" sz="1200" dirty="0">
                          <a:solidFill>
                            <a:srgbClr val="B9BED3"/>
                          </a:solidFill>
                          <a:latin typeface="Poppins" pitchFamily="34" charset="0"/>
                          <a:ea typeface="Poppins" pitchFamily="34" charset="-122"/>
                          <a:cs typeface="Poppins" pitchFamily="34" charset="-120"/>
                        </a:rPr>
                        <a:t>Trained to</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c>
                  <a:txBody>
                    <a:bodyPr/>
                    <a:lstStyle/>
                    <a:p>
                      <a:pPr indent="0" marL="0">
                        <a:lnSpc>
                          <a:spcPts val="1680"/>
                        </a:lnSpc>
                        <a:buNone/>
                      </a:pPr>
                      <a:r>
                        <a:rPr lang="en-US" sz="1200" dirty="0">
                          <a:solidFill>
                            <a:srgbClr val="F6F3EB"/>
                          </a:solidFill>
                          <a:latin typeface="Poppins" pitchFamily="34" charset="0"/>
                          <a:ea typeface="Poppins" pitchFamily="34" charset="-122"/>
                          <a:cs typeface="Poppins" pitchFamily="34" charset="-120"/>
                        </a:rPr>
                        <a:t>name a song's style from 400 Discogs styles (Discogs: a huge online database of records)</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r>
              <a:tr h="538361">
                <a:tc>
                  <a:txBody>
                    <a:bodyPr/>
                    <a:lstStyle/>
                    <a:p>
                      <a:pPr indent="0" marL="0">
                        <a:lnSpc>
                          <a:spcPts val="1680"/>
                        </a:lnSpc>
                        <a:buNone/>
                      </a:pPr>
                      <a:r>
                        <a:rPr lang="en-US" sz="1200" dirty="0">
                          <a:solidFill>
                            <a:srgbClr val="B9BED3"/>
                          </a:solidFill>
                          <a:latin typeface="Poppins" pitchFamily="34" charset="0"/>
                          <a:ea typeface="Poppins" pitchFamily="34" charset="-122"/>
                          <a:cs typeface="Poppins" pitchFamily="34" charset="-120"/>
                        </a:rPr>
                        <a:t>Licence</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c>
                  <a:txBody>
                    <a:bodyPr/>
                    <a:lstStyle/>
                    <a:p>
                      <a:pPr indent="0" marL="0">
                        <a:lnSpc>
                          <a:spcPts val="1680"/>
                        </a:lnSpc>
                        <a:buNone/>
                      </a:pPr>
                      <a:r>
                        <a:rPr lang="en-US" sz="1200" dirty="0">
                          <a:solidFill>
                            <a:srgbClr val="F6F3EB"/>
                          </a:solidFill>
                          <a:latin typeface="Poppins" pitchFamily="34" charset="0"/>
                          <a:ea typeface="Poppins" pitchFamily="34" charset="-122"/>
                          <a:cs typeface="Poppins" pitchFamily="34" charset="-120"/>
                        </a:rPr>
                        <a:t>CC BY-NC-SA 4.0: free for non-commercial use</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r>
              <a:tr h="332581">
                <a:tc>
                  <a:txBody>
                    <a:bodyPr/>
                    <a:lstStyle/>
                    <a:p>
                      <a:pPr indent="0" marL="0">
                        <a:lnSpc>
                          <a:spcPts val="1680"/>
                        </a:lnSpc>
                        <a:buNone/>
                      </a:pPr>
                      <a:r>
                        <a:rPr lang="en-US" sz="1200" dirty="0">
                          <a:solidFill>
                            <a:srgbClr val="B9BED3"/>
                          </a:solidFill>
                          <a:latin typeface="Poppins" pitchFamily="34" charset="0"/>
                          <a:ea typeface="Poppins" pitchFamily="34" charset="-122"/>
                          <a:cs typeface="Poppins" pitchFamily="34" charset="-120"/>
                        </a:rPr>
                        <a:t>Paper</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c>
                  <a:txBody>
                    <a:bodyPr/>
                    <a:lstStyle/>
                    <a:p>
                      <a:pPr indent="0" marL="0">
                        <a:lnSpc>
                          <a:spcPts val="1680"/>
                        </a:lnSpc>
                        <a:buNone/>
                      </a:pPr>
                      <a:r>
                        <a:rPr lang="en-US" sz="1200" dirty="0">
                          <a:solidFill>
                            <a:srgbClr val="F6F3EB"/>
                          </a:solidFill>
                          <a:latin typeface="Poppins" pitchFamily="34" charset="0"/>
                          <a:ea typeface="Poppins" pitchFamily="34" charset="-122"/>
                          <a:cs typeface="Poppins" pitchFamily="34" charset="-120"/>
                        </a:rPr>
                        <a:t>Alonso-Jiménez, Serra, Bogdanov · ISMIR 2022</a:t>
                      </a:r>
                      <a:endParaRPr lang="en-US" sz="1200" dirty="0">
                        <a:latin typeface="Poppins" charset="0"/>
                        <a:ea typeface="Poppins" charset="0"/>
                        <a:cs typeface="Poppins" charset="0"/>
                      </a:endParaRPr>
                    </a:p>
                  </a:txBody>
                  <a:tcPr marL="53340" marR="53340" marT="53340" marB="53340" anchor="t">
                    <a:lnL w="12700" cap="flat" cmpd="sng" algn="ctr">
                      <a:solidFill>
                        <a:srgbClr val="525669"/>
                      </a:solidFill>
                      <a:prstDash val="solid"/>
                      <a:round/>
                      <a:headEnd type="none" w="med" len="med"/>
                      <a:tailEnd type="none" w="med" len="med"/>
                    </a:lnL>
                    <a:lnR w="12700" cap="flat" cmpd="sng" algn="ctr">
                      <a:solidFill>
                        <a:srgbClr val="525669"/>
                      </a:solidFill>
                      <a:prstDash val="solid"/>
                      <a:round/>
                      <a:headEnd type="none" w="med" len="med"/>
                      <a:tailEnd type="none" w="med" len="med"/>
                    </a:lnR>
                    <a:lnT w="12700" cap="flat" cmpd="sng" algn="ctr">
                      <a:solidFill>
                        <a:srgbClr val="525669"/>
                      </a:solidFill>
                      <a:prstDash val="solid"/>
                      <a:round/>
                      <a:headEnd type="none" w="med" len="med"/>
                      <a:tailEnd type="none" w="med" len="med"/>
                    </a:lnT>
                    <a:lnB w="12700" cap="flat" cmpd="sng" algn="ctr">
                      <a:solidFill>
                        <a:srgbClr val="525669"/>
                      </a:solidFill>
                      <a:prstDash val="solid"/>
                      <a:round/>
                      <a:headEnd type="none" w="med" len="med"/>
                      <a:tailEnd type="none" w="med" len="med"/>
                    </a:lnB>
                  </a:tcPr>
                </a:tc>
              </a:tr>
            </a:tbl>
          </a:graphicData>
        </a:graphic>
      </p:graphicFrame>
      <p:sp>
        <p:nvSpPr>
          <p:cNvPr id="7" name="Shape 4"/>
          <p:cNvSpPr/>
          <p:nvPr/>
        </p:nvSpPr>
        <p:spPr>
          <a:xfrm>
            <a:off x="6546850" y="1962150"/>
            <a:ext cx="0" cy="3879850"/>
          </a:xfrm>
          <a:prstGeom prst="line">
            <a:avLst/>
          </a:prstGeom>
          <a:noFill/>
          <a:ln w="38100">
            <a:solidFill>
              <a:srgbClr val="C8F041"/>
            </a:solidFill>
            <a:prstDash val="solid"/>
          </a:ln>
        </p:spPr>
      </p:sp>
      <p:sp>
        <p:nvSpPr>
          <p:cNvPr id="8" name="Text 5"/>
          <p:cNvSpPr/>
          <p:nvPr/>
        </p:nvSpPr>
        <p:spPr>
          <a:xfrm>
            <a:off x="6769100" y="1987550"/>
            <a:ext cx="474840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F041"/>
                </a:solidFill>
                <a:latin typeface="Poppins" pitchFamily="34" charset="0"/>
                <a:ea typeface="Poppins" pitchFamily="34" charset="-122"/>
                <a:cs typeface="Poppins" pitchFamily="34" charset="-120"/>
              </a:rPr>
              <a:t>HOW WE USE IT</a:t>
            </a:r>
            <a:endParaRPr lang="en-US" sz="1200" dirty="0"/>
          </a:p>
        </p:txBody>
      </p:sp>
      <p:sp>
        <p:nvSpPr>
          <p:cNvPr id="9" name="Text 6"/>
          <p:cNvSpPr/>
          <p:nvPr/>
        </p:nvSpPr>
        <p:spPr>
          <a:xfrm>
            <a:off x="6803628" y="2286000"/>
            <a:ext cx="4707779" cy="1968500"/>
          </a:xfrm>
          <a:prstGeom prst="rect">
            <a:avLst/>
          </a:prstGeom>
          <a:noFill/>
          <a:ln/>
        </p:spPr>
        <p:txBody>
          <a:bodyPr wrap="square" lIns="0" tIns="0" rIns="0" bIns="0" rtlCol="0" anchor="t">
            <a:normAutofit/>
          </a:bodyPr>
          <a:lstStyle/>
          <a:p>
            <a:pPr algn="l" marL="168672" indent="-168672">
              <a:lnSpc>
                <a:spcPts val="1740"/>
              </a:lnSpc>
              <a:buSzPct val="100000"/>
              <a:buFontTx/>
              <a:buAutoNum type="arabicPeriod" startAt="1"/>
            </a:pPr>
            <a:r>
              <a:rPr lang="en-US" sz="1200" dirty="0">
                <a:solidFill>
                  <a:srgbClr val="F6F3EB"/>
                </a:solidFill>
                <a:latin typeface="Poppins" pitchFamily="34" charset="0"/>
                <a:ea typeface="Poppins" pitchFamily="34" charset="-122"/>
                <a:cs typeface="Poppins" pitchFamily="34" charset="-120"/>
              </a:rPr>
              <a:t>Each 30-second clip becomes a picture of sound (a spectrogram).</a:t>
            </a:r>
            <a:endParaRPr lang="en-US" sz="1200" dirty="0"/>
          </a:p>
          <a:p>
            <a:pPr algn="l" marL="168672" indent="-168672">
              <a:lnSpc>
                <a:spcPts val="1740"/>
              </a:lnSpc>
              <a:buSzPct val="100000"/>
              <a:buFontTx/>
              <a:buAutoNum type="arabicPeriod" startAt="1"/>
            </a:pPr>
            <a:r>
              <a:rPr lang="en-US" sz="1200" dirty="0">
                <a:solidFill>
                  <a:srgbClr val="F6F3EB"/>
                </a:solidFill>
                <a:latin typeface="Poppins" pitchFamily="34" charset="0"/>
                <a:ea typeface="Poppins" pitchFamily="34" charset="-122"/>
                <a:cs typeface="Poppins" pitchFamily="34" charset="-120"/>
              </a:rPr>
              <a:t>EffNet reads it and gives 1,280 numbers: the song's fingerprint.</a:t>
            </a:r>
            <a:endParaRPr lang="en-US" sz="1200" dirty="0"/>
          </a:p>
          <a:p>
            <a:pPr algn="l" marL="168672" indent="-168672">
              <a:lnSpc>
                <a:spcPts val="1740"/>
              </a:lnSpc>
              <a:buSzPct val="100000"/>
              <a:buFontTx/>
              <a:buAutoNum type="arabicPeriod" startAt="1"/>
            </a:pPr>
            <a:r>
              <a:rPr lang="en-US" sz="1200" dirty="0">
                <a:solidFill>
                  <a:srgbClr val="F6F3EB"/>
                </a:solidFill>
                <a:latin typeface="Poppins" pitchFamily="34" charset="0"/>
                <a:ea typeface="Poppins" pitchFamily="34" charset="-122"/>
                <a:cs typeface="Poppins" pitchFamily="34" charset="-120"/>
              </a:rPr>
              <a:t>We stop before the style name. The fingerprint is what we keep.</a:t>
            </a:r>
            <a:endParaRPr lang="en-US" sz="1200" dirty="0"/>
          </a:p>
          <a:p>
            <a:pPr algn="l" marL="168672" indent="-168672">
              <a:lnSpc>
                <a:spcPts val="1740"/>
              </a:lnSpc>
              <a:buSzPct val="100000"/>
              <a:buFontTx/>
              <a:buAutoNum type="arabicPeriod" startAt="1"/>
            </a:pPr>
            <a:r>
              <a:rPr lang="en-US" sz="1200" dirty="0">
                <a:solidFill>
                  <a:srgbClr val="F6F3EB"/>
                </a:solidFill>
                <a:latin typeface="Poppins" pitchFamily="34" charset="0"/>
                <a:ea typeface="Poppins" pitchFamily="34" charset="-122"/>
                <a:cs typeface="Poppins" pitchFamily="34" charset="-120"/>
              </a:rPr>
              <a:t>Done once per song, offline: 24,757 fingerprints saved.</a:t>
            </a:r>
            <a:endParaRPr lang="en-US" sz="1200" dirty="0"/>
          </a:p>
          <a:p>
            <a:pPr algn="l" marL="168672" indent="-168672">
              <a:lnSpc>
                <a:spcPts val="1740"/>
              </a:lnSpc>
              <a:buSzPct val="100000"/>
              <a:buFontTx/>
              <a:buAutoNum type="arabicPeriod" startAt="1"/>
            </a:pPr>
            <a:r>
              <a:rPr lang="en-US" sz="1200" dirty="0">
                <a:solidFill>
                  <a:srgbClr val="F6F3EB"/>
                </a:solidFill>
                <a:latin typeface="Poppins" pitchFamily="34" charset="0"/>
                <a:ea typeface="Poppins" pitchFamily="34" charset="-122"/>
                <a:cs typeface="Poppins" pitchFamily="34" charset="-120"/>
              </a:rPr>
              <a:t>In the app we compare fingerprints by angle (cosine). Smaller angle = more alike.</a:t>
            </a:r>
            <a:endParaRPr lang="en-US" sz="1200" dirty="0"/>
          </a:p>
        </p:txBody>
      </p:sp>
      <p:sp>
        <p:nvSpPr>
          <p:cNvPr id="10" name="Text 7"/>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ED3"/>
                </a:solidFill>
                <a:latin typeface="Poppins" pitchFamily="34" charset="0"/>
                <a:ea typeface="Poppins" pitchFamily="34" charset="-122"/>
                <a:cs typeface="Poppins" pitchFamily="34" charset="-120"/>
              </a:rPr>
              <a:t>Source: essentia.upf.edu/models. We did not train it; we use it as it is.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71B2E"/>
                </a:solidFill>
                <a:latin typeface="Unbounded" pitchFamily="34" charset="0"/>
                <a:ea typeface="Unbounded" pitchFamily="34" charset="-122"/>
                <a:cs typeface="Unbounded" pitchFamily="34" charset="-120"/>
              </a:rPr>
              <a:t>HOW WE TESTED THE APP</a:t>
            </a:r>
            <a:endParaRPr lang="en-US" sz="3600" dirty="0"/>
          </a:p>
        </p:txBody>
      </p:sp>
      <p:sp>
        <p:nvSpPr>
          <p:cNvPr id="3" name="Shape 1"/>
          <p:cNvSpPr/>
          <p:nvPr/>
        </p:nvSpPr>
        <p:spPr>
          <a:xfrm>
            <a:off x="819150" y="1524000"/>
            <a:ext cx="3399334" cy="4311650"/>
          </a:xfrm>
          <a:prstGeom prst="roundRect">
            <a:avLst>
              <a:gd name="adj" fmla="val 4296"/>
            </a:avLst>
          </a:prstGeom>
          <a:solidFill>
            <a:srgbClr val="FBFAF5"/>
          </a:solidFill>
          <a:ln w="12700">
            <a:solidFill>
              <a:srgbClr val="171B2E"/>
            </a:solidFill>
            <a:prstDash val="solid"/>
          </a:ln>
        </p:spPr>
      </p:sp>
      <p:sp>
        <p:nvSpPr>
          <p:cNvPr id="4" name="Text 2"/>
          <p:cNvSpPr/>
          <p:nvPr/>
        </p:nvSpPr>
        <p:spPr>
          <a:xfrm>
            <a:off x="1016000" y="1720850"/>
            <a:ext cx="309580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D63A7A"/>
                </a:solidFill>
                <a:latin typeface="Poppins" pitchFamily="34" charset="0"/>
                <a:ea typeface="Poppins" pitchFamily="34" charset="-122"/>
                <a:cs typeface="Poppins" pitchFamily="34" charset="-120"/>
              </a:rPr>
              <a:t>1 · THE SEEDS</a:t>
            </a:r>
            <a:endParaRPr lang="en-US" sz="1200" dirty="0"/>
          </a:p>
        </p:txBody>
      </p:sp>
      <p:sp>
        <p:nvSpPr>
          <p:cNvPr id="5" name="Text 3"/>
          <p:cNvSpPr/>
          <p:nvPr/>
        </p:nvSpPr>
        <p:spPr>
          <a:xfrm>
            <a:off x="1016000" y="2019300"/>
            <a:ext cx="3095803" cy="2730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71B2E"/>
                </a:solidFill>
                <a:latin typeface="Unbounded" pitchFamily="34" charset="0"/>
                <a:ea typeface="Unbounded" pitchFamily="34" charset="-122"/>
                <a:cs typeface="Unbounded" pitchFamily="34" charset="-120"/>
              </a:rPr>
              <a:t>6 starting songs</a:t>
            </a:r>
            <a:endParaRPr lang="en-US" sz="1800" dirty="0"/>
          </a:p>
        </p:txBody>
      </p:sp>
      <p:sp>
        <p:nvSpPr>
          <p:cNvPr id="6" name="Text 4"/>
          <p:cNvSpPr/>
          <p:nvPr/>
        </p:nvSpPr>
        <p:spPr>
          <a:xfrm>
            <a:off x="1038606" y="2355850"/>
            <a:ext cx="3067863" cy="88900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171B2E"/>
                </a:solidFill>
                <a:latin typeface="Poppins" pitchFamily="34" charset="0"/>
                <a:ea typeface="Poppins" pitchFamily="34" charset="-122"/>
                <a:cs typeface="Poppins" pitchFamily="34" charset="-120"/>
              </a:rPr>
              <a:t>New to every listener</a:t>
            </a:r>
            <a:endParaRPr lang="en-US" sz="1200" dirty="0"/>
          </a:p>
          <a:p>
            <a:pPr algn="l" marL="155194" indent="-155194">
              <a:lnSpc>
                <a:spcPts val="1740"/>
              </a:lnSpc>
              <a:buSzPct val="100000"/>
              <a:buChar char="•"/>
            </a:pPr>
            <a:r>
              <a:rPr lang="en-US" sz="1200" dirty="0">
                <a:solidFill>
                  <a:srgbClr val="171B2E"/>
                </a:solidFill>
                <a:latin typeface="Poppins" pitchFamily="34" charset="0"/>
                <a:ea typeface="Poppins" pitchFamily="34" charset="-122"/>
                <a:cs typeface="Poppins" pitchFamily="34" charset="-120"/>
              </a:rPr>
              <a:t>One per genre, one per artist</a:t>
            </a:r>
            <a:endParaRPr lang="en-US" sz="1200" dirty="0"/>
          </a:p>
          <a:p>
            <a:pPr algn="l" marL="155194" indent="-155194">
              <a:lnSpc>
                <a:spcPts val="1740"/>
              </a:lnSpc>
              <a:buSzPct val="100000"/>
              <a:buChar char="•"/>
            </a:pPr>
            <a:r>
              <a:rPr lang="en-US" sz="1200" dirty="0">
                <a:solidFill>
                  <a:srgbClr val="171B2E"/>
                </a:solidFill>
                <a:latin typeface="Poppins" pitchFamily="34" charset="0"/>
                <a:ea typeface="Poppins" pitchFamily="34" charset="-122"/>
                <a:cs typeface="Poppins" pitchFamily="34" charset="-120"/>
              </a:rPr>
              <a:t>Drawn by chance, not by hand</a:t>
            </a:r>
            <a:endParaRPr lang="en-US" sz="1200" dirty="0"/>
          </a:p>
          <a:p>
            <a:pPr algn="l" marL="155194" indent="-155194">
              <a:lnSpc>
                <a:spcPts val="1740"/>
              </a:lnSpc>
              <a:buSzPct val="100000"/>
              <a:buChar char="•"/>
            </a:pPr>
            <a:r>
              <a:rPr lang="en-US" sz="1200" dirty="0">
                <a:solidFill>
                  <a:srgbClr val="171B2E"/>
                </a:solidFill>
                <a:latin typeface="Poppins" pitchFamily="34" charset="0"/>
                <a:ea typeface="Poppins" pitchFamily="34" charset="-122"/>
                <a:cs typeface="Poppins" pitchFamily="34" charset="-120"/>
              </a:rPr>
              <a:t>Fixed in Git before any result</a:t>
            </a:r>
            <a:endParaRPr lang="en-US" sz="1200" dirty="0"/>
          </a:p>
        </p:txBody>
      </p:sp>
      <p:sp>
        <p:nvSpPr>
          <p:cNvPr id="7" name="Text 5"/>
          <p:cNvSpPr/>
          <p:nvPr/>
        </p:nvSpPr>
        <p:spPr>
          <a:xfrm>
            <a:off x="1016000" y="5219700"/>
            <a:ext cx="3095803"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1B2E"/>
                </a:solidFill>
                <a:latin typeface="Poppins" pitchFamily="34" charset="0"/>
                <a:ea typeface="Poppins" pitchFamily="34" charset="-122"/>
                <a:cs typeface="Poppins" pitchFamily="34" charset="-120"/>
              </a:rPr>
              <a:t>Why:</a:t>
            </a:r>
            <a:r>
              <a:rPr lang="en-US" sz="1200" dirty="0">
                <a:solidFill>
                  <a:srgbClr val="4A4F63"/>
                </a:solidFill>
                <a:latin typeface="Poppins" pitchFamily="34" charset="0"/>
                <a:ea typeface="Poppins" pitchFamily="34" charset="-122"/>
                <a:cs typeface="Poppins" pitchFamily="34" charset="-120"/>
              </a:rPr>
              <a:t> a fair test across many kinds of music.</a:t>
            </a:r>
            <a:endParaRPr lang="en-US" sz="1200" dirty="0"/>
          </a:p>
        </p:txBody>
      </p:sp>
      <p:sp>
        <p:nvSpPr>
          <p:cNvPr id="8" name="Shape 6"/>
          <p:cNvSpPr/>
          <p:nvPr/>
        </p:nvSpPr>
        <p:spPr>
          <a:xfrm>
            <a:off x="4408984" y="1524000"/>
            <a:ext cx="3399334" cy="4311650"/>
          </a:xfrm>
          <a:prstGeom prst="roundRect">
            <a:avLst>
              <a:gd name="adj" fmla="val 4296"/>
            </a:avLst>
          </a:prstGeom>
          <a:solidFill>
            <a:srgbClr val="FBFAF5"/>
          </a:solidFill>
          <a:ln w="12700">
            <a:solidFill>
              <a:srgbClr val="171B2E"/>
            </a:solidFill>
            <a:prstDash val="solid"/>
          </a:ln>
        </p:spPr>
      </p:sp>
      <p:sp>
        <p:nvSpPr>
          <p:cNvPr id="9" name="Text 7"/>
          <p:cNvSpPr/>
          <p:nvPr/>
        </p:nvSpPr>
        <p:spPr>
          <a:xfrm>
            <a:off x="4605834" y="1720850"/>
            <a:ext cx="309580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6FE4"/>
                </a:solidFill>
                <a:latin typeface="Poppins" pitchFamily="34" charset="0"/>
                <a:ea typeface="Poppins" pitchFamily="34" charset="-122"/>
                <a:cs typeface="Poppins" pitchFamily="34" charset="-120"/>
              </a:rPr>
              <a:t>2 · THE PAIRS</a:t>
            </a:r>
            <a:endParaRPr lang="en-US" sz="1200" dirty="0"/>
          </a:p>
        </p:txBody>
      </p:sp>
      <p:sp>
        <p:nvSpPr>
          <p:cNvPr id="10" name="Text 8"/>
          <p:cNvSpPr/>
          <p:nvPr/>
        </p:nvSpPr>
        <p:spPr>
          <a:xfrm>
            <a:off x="4605834" y="2019300"/>
            <a:ext cx="3095803" cy="2730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171B2E"/>
                </a:solidFill>
                <a:latin typeface="Unbounded" pitchFamily="34" charset="0"/>
                <a:ea typeface="Unbounded" pitchFamily="34" charset="-122"/>
                <a:cs typeface="Unbounded" pitchFamily="34" charset="-120"/>
              </a:rPr>
              <a:t>7 per seed = 42</a:t>
            </a:r>
            <a:endParaRPr lang="en-US" sz="1800" dirty="0"/>
          </a:p>
        </p:txBody>
      </p:sp>
      <p:sp>
        <p:nvSpPr>
          <p:cNvPr id="11" name="Shape 9"/>
          <p:cNvSpPr/>
          <p:nvPr/>
        </p:nvSpPr>
        <p:spPr>
          <a:xfrm>
            <a:off x="4605834" y="2355850"/>
            <a:ext cx="3005634" cy="311150"/>
          </a:xfrm>
          <a:prstGeom prst="roundRect">
            <a:avLst>
              <a:gd name="adj" fmla="val 24490"/>
            </a:avLst>
          </a:prstGeom>
          <a:solidFill>
            <a:srgbClr val="2F6FE4"/>
          </a:solidFill>
          <a:ln/>
        </p:spPr>
      </p:sp>
      <p:sp>
        <p:nvSpPr>
          <p:cNvPr id="12" name="Text 10"/>
          <p:cNvSpPr/>
          <p:nvPr/>
        </p:nvSpPr>
        <p:spPr>
          <a:xfrm>
            <a:off x="4720134" y="2406650"/>
            <a:ext cx="28603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BFAF5"/>
                </a:solidFill>
                <a:latin typeface="Poppins" pitchFamily="34" charset="0"/>
                <a:ea typeface="Poppins" pitchFamily="34" charset="-122"/>
                <a:cs typeface="Poppins" pitchFamily="34" charset="-120"/>
              </a:rPr>
              <a:t>Home × 2 → 12 pairs</a:t>
            </a:r>
            <a:endParaRPr lang="en-US" sz="1200" dirty="0"/>
          </a:p>
        </p:txBody>
      </p:sp>
      <p:sp>
        <p:nvSpPr>
          <p:cNvPr id="13" name="Shape 11"/>
          <p:cNvSpPr/>
          <p:nvPr/>
        </p:nvSpPr>
        <p:spPr>
          <a:xfrm>
            <a:off x="4605834" y="2730500"/>
            <a:ext cx="3005634" cy="311150"/>
          </a:xfrm>
          <a:prstGeom prst="roundRect">
            <a:avLst>
              <a:gd name="adj" fmla="val 24490"/>
            </a:avLst>
          </a:prstGeom>
          <a:solidFill>
            <a:srgbClr val="D63A7A"/>
          </a:solidFill>
          <a:ln/>
        </p:spPr>
      </p:sp>
      <p:sp>
        <p:nvSpPr>
          <p:cNvPr id="14" name="Text 12"/>
          <p:cNvSpPr/>
          <p:nvPr/>
        </p:nvSpPr>
        <p:spPr>
          <a:xfrm>
            <a:off x="4720134" y="2781300"/>
            <a:ext cx="28603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BFAF5"/>
                </a:solidFill>
                <a:latin typeface="Poppins" pitchFamily="34" charset="0"/>
                <a:ea typeface="Poppins" pitchFamily="34" charset="-122"/>
                <a:cs typeface="Poppins" pitchFamily="34" charset="-120"/>
              </a:rPr>
              <a:t>Bridge × 2 → 12 pairs</a:t>
            </a:r>
            <a:endParaRPr lang="en-US" sz="1200" dirty="0"/>
          </a:p>
        </p:txBody>
      </p:sp>
      <p:sp>
        <p:nvSpPr>
          <p:cNvPr id="15" name="Shape 13"/>
          <p:cNvSpPr/>
          <p:nvPr/>
        </p:nvSpPr>
        <p:spPr>
          <a:xfrm>
            <a:off x="4605834" y="3105150"/>
            <a:ext cx="3005634" cy="311150"/>
          </a:xfrm>
          <a:prstGeom prst="roundRect">
            <a:avLst>
              <a:gd name="adj" fmla="val 24490"/>
            </a:avLst>
          </a:prstGeom>
          <a:solidFill>
            <a:srgbClr val="E07B1F"/>
          </a:solidFill>
          <a:ln/>
        </p:spPr>
      </p:sp>
      <p:sp>
        <p:nvSpPr>
          <p:cNvPr id="16" name="Text 14"/>
          <p:cNvSpPr/>
          <p:nvPr/>
        </p:nvSpPr>
        <p:spPr>
          <a:xfrm>
            <a:off x="4720134" y="3155950"/>
            <a:ext cx="28603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1B2E"/>
                </a:solidFill>
                <a:latin typeface="Poppins" pitchFamily="34" charset="0"/>
                <a:ea typeface="Poppins" pitchFamily="34" charset="-122"/>
                <a:cs typeface="Poppins" pitchFamily="34" charset="-120"/>
              </a:rPr>
              <a:t>Adventure × 2 → 12 pairs</a:t>
            </a:r>
            <a:endParaRPr lang="en-US" sz="1200" dirty="0"/>
          </a:p>
        </p:txBody>
      </p:sp>
      <p:sp>
        <p:nvSpPr>
          <p:cNvPr id="17" name="Shape 15"/>
          <p:cNvSpPr/>
          <p:nvPr/>
        </p:nvSpPr>
        <p:spPr>
          <a:xfrm>
            <a:off x="4605834" y="3479800"/>
            <a:ext cx="3005634" cy="311150"/>
          </a:xfrm>
          <a:prstGeom prst="roundRect">
            <a:avLst>
              <a:gd name="adj" fmla="val 24490"/>
            </a:avLst>
          </a:prstGeom>
          <a:solidFill>
            <a:srgbClr val="171B2E"/>
          </a:solidFill>
          <a:ln/>
        </p:spPr>
      </p:sp>
      <p:sp>
        <p:nvSpPr>
          <p:cNvPr id="18" name="Text 16"/>
          <p:cNvSpPr/>
          <p:nvPr/>
        </p:nvSpPr>
        <p:spPr>
          <a:xfrm>
            <a:off x="4720134" y="3530600"/>
            <a:ext cx="2860345" cy="23495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3EB"/>
                </a:solidFill>
                <a:latin typeface="Poppins" pitchFamily="34" charset="0"/>
                <a:ea typeface="Poppins" pitchFamily="34" charset="-122"/>
                <a:cs typeface="Poppins" pitchFamily="34" charset="-120"/>
              </a:rPr>
              <a:t>Random × 1 → 6 pairs</a:t>
            </a:r>
            <a:endParaRPr lang="en-US" sz="1200" dirty="0"/>
          </a:p>
        </p:txBody>
      </p:sp>
      <p:sp>
        <p:nvSpPr>
          <p:cNvPr id="19" name="Text 17"/>
          <p:cNvSpPr/>
          <p:nvPr/>
        </p:nvSpPr>
        <p:spPr>
          <a:xfrm>
            <a:off x="4605834" y="5219700"/>
            <a:ext cx="3095803"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71B2E"/>
                </a:solidFill>
                <a:latin typeface="Poppins" pitchFamily="34" charset="0"/>
                <a:ea typeface="Poppins" pitchFamily="34" charset="-122"/>
                <a:cs typeface="Poppins" pitchFamily="34" charset="-120"/>
              </a:rPr>
              <a:t>Why:</a:t>
            </a:r>
            <a:r>
              <a:rPr lang="en-US" sz="1200" dirty="0">
                <a:solidFill>
                  <a:srgbClr val="4A4F63"/>
                </a:solidFill>
                <a:latin typeface="Poppins" pitchFamily="34" charset="0"/>
                <a:ea typeface="Poppins" pitchFamily="34" charset="-122"/>
                <a:cs typeface="Poppins" pitchFamily="34" charset="-120"/>
              </a:rPr>
              <a:t> each step of the dial, plus random as the floor.</a:t>
            </a:r>
            <a:endParaRPr lang="en-US" sz="1200" dirty="0"/>
          </a:p>
        </p:txBody>
      </p:sp>
      <p:sp>
        <p:nvSpPr>
          <p:cNvPr id="20" name="Shape 18"/>
          <p:cNvSpPr/>
          <p:nvPr/>
        </p:nvSpPr>
        <p:spPr>
          <a:xfrm>
            <a:off x="7992467" y="1517650"/>
            <a:ext cx="3386634" cy="4324350"/>
          </a:xfrm>
          <a:prstGeom prst="roundRect">
            <a:avLst>
              <a:gd name="adj" fmla="val 4500"/>
            </a:avLst>
          </a:prstGeom>
          <a:solidFill>
            <a:srgbClr val="171B2E"/>
          </a:solidFill>
          <a:ln/>
        </p:spPr>
      </p:sp>
      <p:sp>
        <p:nvSpPr>
          <p:cNvPr id="21" name="Text 19"/>
          <p:cNvSpPr/>
          <p:nvPr/>
        </p:nvSpPr>
        <p:spPr>
          <a:xfrm>
            <a:off x="8182967" y="1708150"/>
            <a:ext cx="3095803" cy="23495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8F041"/>
                </a:solidFill>
                <a:latin typeface="Poppins" pitchFamily="34" charset="0"/>
                <a:ea typeface="Poppins" pitchFamily="34" charset="-122"/>
                <a:cs typeface="Poppins" pitchFamily="34" charset="-120"/>
              </a:rPr>
              <a:t>3 · FAIR LISTENING</a:t>
            </a:r>
            <a:endParaRPr lang="en-US" sz="1200" dirty="0"/>
          </a:p>
        </p:txBody>
      </p:sp>
      <p:sp>
        <p:nvSpPr>
          <p:cNvPr id="22" name="Text 20"/>
          <p:cNvSpPr/>
          <p:nvPr/>
        </p:nvSpPr>
        <p:spPr>
          <a:xfrm>
            <a:off x="8182967" y="2006600"/>
            <a:ext cx="3095803" cy="273050"/>
          </a:xfrm>
          <a:prstGeom prst="rect">
            <a:avLst/>
          </a:prstGeom>
          <a:noFill/>
          <a:ln/>
        </p:spPr>
        <p:txBody>
          <a:bodyPr wrap="square" lIns="0" tIns="0" rIns="0" bIns="0" rtlCol="0" anchor="t">
            <a:normAutofit/>
          </a:bodyPr>
          <a:lstStyle/>
          <a:p>
            <a:pPr algn="l" indent="0" marL="0">
              <a:lnSpc>
                <a:spcPts val="1980"/>
              </a:lnSpc>
              <a:buNone/>
            </a:pPr>
            <a:r>
              <a:rPr lang="en-US" sz="1800" b="1" dirty="0">
                <a:solidFill>
                  <a:srgbClr val="F6F3EB"/>
                </a:solidFill>
                <a:latin typeface="Unbounded" pitchFamily="34" charset="0"/>
                <a:ea typeface="Unbounded" pitchFamily="34" charset="-122"/>
                <a:cs typeface="Unbounded" pitchFamily="34" charset="-120"/>
              </a:rPr>
              <a:t>6 raters, blind</a:t>
            </a:r>
            <a:endParaRPr lang="en-US" sz="1800" dirty="0"/>
          </a:p>
        </p:txBody>
      </p:sp>
      <p:sp>
        <p:nvSpPr>
          <p:cNvPr id="23" name="Text 21"/>
          <p:cNvSpPr/>
          <p:nvPr/>
        </p:nvSpPr>
        <p:spPr>
          <a:xfrm>
            <a:off x="8205573" y="2343150"/>
            <a:ext cx="3067863" cy="1320800"/>
          </a:xfrm>
          <a:prstGeom prst="rect">
            <a:avLst/>
          </a:prstGeom>
          <a:noFill/>
          <a:ln/>
        </p:spPr>
        <p:txBody>
          <a:bodyPr wrap="square" lIns="0" tIns="0" rIns="0" bIns="0" rtlCol="0" anchor="t">
            <a:normAutofit/>
          </a:bodyPr>
          <a:lstStyle/>
          <a:p>
            <a:pPr algn="l" marL="155194" indent="-155194">
              <a:lnSpc>
                <a:spcPts val="1740"/>
              </a:lnSpc>
              <a:buSzPct val="100000"/>
              <a:buChar char="•"/>
            </a:pPr>
            <a:r>
              <a:rPr lang="en-US" sz="1200" dirty="0">
                <a:solidFill>
                  <a:srgbClr val="F6F3EB"/>
                </a:solidFill>
                <a:latin typeface="Poppins" pitchFamily="34" charset="0"/>
                <a:ea typeface="Poppins" pitchFamily="34" charset="-122"/>
                <a:cs typeface="Poppins" pitchFamily="34" charset="-120"/>
              </a:rPr>
              <a:t>No names, random play order, same volume</a:t>
            </a:r>
            <a:endParaRPr lang="en-US" sz="1200" dirty="0"/>
          </a:p>
          <a:p>
            <a:pPr algn="l" marL="155194" indent="-155194">
              <a:lnSpc>
                <a:spcPts val="1740"/>
              </a:lnSpc>
              <a:buSzPct val="100000"/>
              <a:buChar char="•"/>
            </a:pPr>
            <a:r>
              <a:rPr lang="en-US" sz="1200" dirty="0">
                <a:solidFill>
                  <a:srgbClr val="F6F3EB"/>
                </a:solidFill>
                <a:latin typeface="Poppins" pitchFamily="34" charset="0"/>
                <a:ea typeface="Poppins" pitchFamily="34" charset="-122"/>
                <a:cs typeface="Poppins" pitchFamily="34" charset="-120"/>
              </a:rPr>
              <a:t>7 pairs heard by all, to check they agree</a:t>
            </a:r>
            <a:endParaRPr lang="en-US" sz="1200" dirty="0"/>
          </a:p>
          <a:p>
            <a:pPr algn="l" marL="155194" indent="-155194">
              <a:lnSpc>
                <a:spcPts val="1740"/>
              </a:lnSpc>
              <a:buSzPct val="100000"/>
              <a:buChar char="•"/>
            </a:pPr>
            <a:r>
              <a:rPr lang="en-US" sz="1200" dirty="0">
                <a:solidFill>
                  <a:srgbClr val="F6F3EB"/>
                </a:solidFill>
                <a:latin typeface="Poppins" pitchFamily="34" charset="0"/>
                <a:ea typeface="Poppins" pitchFamily="34" charset="-122"/>
                <a:cs typeface="Poppins" pitchFamily="34" charset="-120"/>
              </a:rPr>
              <a:t>Each step compared with random</a:t>
            </a:r>
            <a:endParaRPr lang="en-US" sz="1200" dirty="0"/>
          </a:p>
          <a:p>
            <a:pPr algn="l" marL="155194" indent="-155194">
              <a:lnSpc>
                <a:spcPts val="1740"/>
              </a:lnSpc>
              <a:buSzPct val="100000"/>
              <a:buChar char="•"/>
            </a:pPr>
            <a:r>
              <a:rPr lang="en-US" sz="1200" dirty="0">
                <a:solidFill>
                  <a:srgbClr val="F6F3EB"/>
                </a:solidFill>
                <a:latin typeface="Poppins" pitchFamily="34" charset="0"/>
                <a:ea typeface="Poppins" pitchFamily="34" charset="-122"/>
                <a:cs typeface="Poppins" pitchFamily="34" charset="-120"/>
              </a:rPr>
              <a:t>Rules written before any rating</a:t>
            </a:r>
            <a:endParaRPr lang="en-US" sz="1200" dirty="0"/>
          </a:p>
        </p:txBody>
      </p:sp>
      <p:sp>
        <p:nvSpPr>
          <p:cNvPr id="24" name="Text 22"/>
          <p:cNvSpPr/>
          <p:nvPr/>
        </p:nvSpPr>
        <p:spPr>
          <a:xfrm>
            <a:off x="8182967" y="5232400"/>
            <a:ext cx="3095803" cy="44450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6F3EB"/>
                </a:solidFill>
                <a:latin typeface="Poppins" pitchFamily="34" charset="0"/>
                <a:ea typeface="Poppins" pitchFamily="34" charset="-122"/>
                <a:cs typeface="Poppins" pitchFamily="34" charset="-120"/>
              </a:rPr>
              <a:t>Why:</a:t>
            </a:r>
            <a:r>
              <a:rPr lang="en-US" sz="1200" dirty="0">
                <a:solidFill>
                  <a:srgbClr val="B9BED3"/>
                </a:solidFill>
                <a:latin typeface="Poppins" pitchFamily="34" charset="0"/>
                <a:ea typeface="Poppins" pitchFamily="34" charset="-122"/>
                <a:cs typeface="Poppins" pitchFamily="34" charset="-120"/>
              </a:rPr>
              <a:t> nothing but the sound decides the score.</a:t>
            </a:r>
            <a:endParaRPr lang="en-US" sz="1200" dirty="0"/>
          </a:p>
        </p:txBody>
      </p:sp>
      <p:sp>
        <p:nvSpPr>
          <p:cNvPr id="25" name="Text 23"/>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63"/>
                </a:solidFill>
                <a:latin typeface="Poppins" pitchFamily="34" charset="0"/>
                <a:ea typeface="Poppins" pitchFamily="34" charset="-122"/>
                <a:cs typeface="Poppins" pitchFamily="34" charset="-120"/>
              </a:rPr>
              <a:t>Round 4 · the pairs come straight from the live app · results on the next slide.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B"/>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171B2E"/>
                </a:solidFill>
                <a:latin typeface="Unbounded" pitchFamily="34" charset="0"/>
                <a:ea typeface="Unbounded" pitchFamily="34" charset="-122"/>
                <a:cs typeface="Unbounded" pitchFamily="34" charset="-120"/>
              </a:rPr>
              <a:t>WHAT WE FOUND</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55750"/>
          <a:ext cx="10553700" cy="1929805"/>
        </p:xfrm>
        <a:graphic>
          <a:graphicData uri="http://schemas.openxmlformats.org/drawingml/2006/table">
            <a:tbl>
              <a:tblPr/>
              <a:tblGrid>
                <a:gridCol w="2321814"/>
                <a:gridCol w="2110740"/>
                <a:gridCol w="2321814"/>
                <a:gridCol w="1477518"/>
                <a:gridCol w="2321814"/>
              </a:tblGrid>
              <a:tr h="385961">
                <a:tc>
                  <a:txBody>
                    <a:bodyPr/>
                    <a:lstStyle/>
                    <a:p>
                      <a:pPr indent="0" marL="0">
                        <a:lnSpc>
                          <a:spcPts val="1960"/>
                        </a:lnSpc>
                        <a:buNone/>
                      </a:pPr>
                      <a:r>
                        <a:rPr lang="en-US" sz="1400" b="1" dirty="0">
                          <a:solidFill>
                            <a:srgbClr val="171B2E"/>
                          </a:solidFill>
                          <a:latin typeface="Poppins" pitchFamily="34" charset="0"/>
                          <a:ea typeface="Poppins" pitchFamily="34" charset="-122"/>
                          <a:cs typeface="Poppins" pitchFamily="34" charset="-120"/>
                        </a:rPr>
                        <a:t>Tier</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c>
                  <a:txBody>
                    <a:bodyPr/>
                    <a:lstStyle/>
                    <a:p>
                      <a:pPr algn="r" indent="0" marL="0">
                        <a:lnSpc>
                          <a:spcPts val="1960"/>
                        </a:lnSpc>
                        <a:buNone/>
                      </a:pPr>
                      <a:r>
                        <a:rPr lang="en-US" sz="1400" b="1" dirty="0">
                          <a:solidFill>
                            <a:srgbClr val="171B2E"/>
                          </a:solidFill>
                          <a:latin typeface="Poppins" pitchFamily="34" charset="0"/>
                          <a:ea typeface="Poppins" pitchFamily="34" charset="-122"/>
                          <a:cs typeface="Poppins" pitchFamily="34" charset="-120"/>
                        </a:rPr>
                        <a:t>Mean (1–5)</a:t>
                      </a:r>
                      <a:endParaRPr lang="en-US" sz="1400" dirty="0">
                        <a:latin typeface="Poppins" charset="0"/>
                        <a:ea typeface="Poppins" charset="0"/>
                        <a:cs typeface="Poppins" charset="0"/>
                      </a:endParaRPr>
                    </a:p>
                  </a:txBody>
                  <a:tcPr marL="62230" marR="62230" marT="62230" marB="62230" anchor="t">
                    <a:lnL w="12700" cap="flat" cmpd="sng" algn="ctr">
                      <a:solidFill>
                        <a:srgbClr val="B6B4AE"/>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c>
                  <a:txBody>
                    <a:bodyPr/>
                    <a:lstStyle/>
                    <a:p>
                      <a:pPr algn="r" indent="0" marL="0">
                        <a:lnSpc>
                          <a:spcPts val="1960"/>
                        </a:lnSpc>
                        <a:buNone/>
                      </a:pPr>
                      <a:r>
                        <a:rPr lang="en-US" sz="1400" b="1" dirty="0">
                          <a:solidFill>
                            <a:srgbClr val="171B2E"/>
                          </a:solidFill>
                          <a:latin typeface="Poppins" pitchFamily="34" charset="0"/>
                          <a:ea typeface="Poppins" pitchFamily="34" charset="-122"/>
                          <a:cs typeface="Poppins" pitchFamily="34" charset="-120"/>
                        </a:rPr>
                        <a:t>Beats random in</a:t>
                      </a:r>
                      <a:endParaRPr lang="en-US" sz="1400" dirty="0">
                        <a:latin typeface="Poppins" charset="0"/>
                        <a:ea typeface="Poppins" charset="0"/>
                        <a:cs typeface="Poppins" charset="0"/>
                      </a:endParaRPr>
                    </a:p>
                  </a:txBody>
                  <a:tcPr marL="62230" marR="62230" marT="62230" marB="62230" anchor="t">
                    <a:lnL w="12700" cap="flat" cmpd="sng" algn="ctr">
                      <a:solidFill>
                        <a:srgbClr val="B6B4AE"/>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c>
                  <a:txBody>
                    <a:bodyPr/>
                    <a:lstStyle/>
                    <a:p>
                      <a:pPr algn="r" indent="0" marL="0">
                        <a:lnSpc>
                          <a:spcPts val="1960"/>
                        </a:lnSpc>
                        <a:buNone/>
                      </a:pPr>
                      <a:r>
                        <a:rPr lang="en-US" sz="1400" b="1" dirty="0">
                          <a:solidFill>
                            <a:srgbClr val="171B2E"/>
                          </a:solidFill>
                          <a:latin typeface="Poppins" pitchFamily="34" charset="0"/>
                          <a:ea typeface="Poppins" pitchFamily="34" charset="-122"/>
                          <a:cs typeface="Poppins" pitchFamily="34" charset="-120"/>
                        </a:rPr>
                        <a:t>p (Holm)</a:t>
                      </a:r>
                      <a:endParaRPr lang="en-US" sz="1400" dirty="0">
                        <a:latin typeface="Poppins" charset="0"/>
                        <a:ea typeface="Poppins" charset="0"/>
                        <a:cs typeface="Poppins" charset="0"/>
                      </a:endParaRPr>
                    </a:p>
                  </a:txBody>
                  <a:tcPr marL="62230" marR="62230" marT="62230" marB="62230" anchor="t">
                    <a:lnL w="12700" cap="flat" cmpd="sng" algn="ctr">
                      <a:solidFill>
                        <a:srgbClr val="B6B4AE"/>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c>
                  <a:txBody>
                    <a:bodyPr/>
                    <a:lstStyle/>
                    <a:p>
                      <a:pPr indent="0" marL="0">
                        <a:lnSpc>
                          <a:spcPts val="1960"/>
                        </a:lnSpc>
                        <a:buNone/>
                      </a:pPr>
                      <a:r>
                        <a:rPr lang="en-US" sz="1400" b="1" dirty="0">
                          <a:solidFill>
                            <a:srgbClr val="171B2E"/>
                          </a:solidFill>
                          <a:latin typeface="Poppins" pitchFamily="34" charset="0"/>
                          <a:ea typeface="Poppins" pitchFamily="34" charset="-122"/>
                          <a:cs typeface="Poppins" pitchFamily="34" charset="-120"/>
                        </a:rPr>
                        <a:t>Verdict</a:t>
                      </a:r>
                      <a:endParaRPr lang="en-US" sz="1400" dirty="0">
                        <a:latin typeface="Poppins" charset="0"/>
                        <a:ea typeface="Poppins" charset="0"/>
                        <a:cs typeface="Poppins" charset="0"/>
                      </a:endParaRPr>
                    </a:p>
                  </a:txBody>
                  <a:tcPr marL="62230" marR="62230" marT="62230" marB="62230" anchor="t">
                    <a:lnL w="12700" cap="flat" cmpd="sng" algn="ctr">
                      <a:solidFill>
                        <a:srgbClr val="B6B4AE"/>
                      </a:solidFill>
                      <a:prstDash val="solid"/>
                      <a:round/>
                      <a:headEnd type="none" w="med" len="med"/>
                      <a:tailEnd type="none" w="med" len="med"/>
                    </a:lnL>
                    <a:lnR w="12700" cap="flat" cmpd="sng" algn="ctr">
                      <a:solidFill>
                        <a:srgbClr val="B6B4AE"/>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B6B4AE"/>
                      </a:solidFill>
                      <a:prstDash val="solid"/>
                      <a:round/>
                      <a:headEnd type="none" w="med" len="med"/>
                      <a:tailEnd type="none" w="med" len="med"/>
                    </a:lnB>
                    <a:solidFill>
                      <a:srgbClr val="E4E1DA"/>
                    </a:solidFill>
                  </a:tcPr>
                </a:tc>
              </a:tr>
              <a:tr h="385961">
                <a:tc>
                  <a:txBody>
                    <a:bodyPr/>
                    <a:lstStyle/>
                    <a:p>
                      <a:pPr indent="0" marL="0">
                        <a:lnSpc>
                          <a:spcPts val="1960"/>
                        </a:lnSpc>
                        <a:buNone/>
                      </a:pPr>
                      <a:r>
                        <a:rPr lang="en-US" sz="1400" dirty="0">
                          <a:solidFill>
                            <a:srgbClr val="2F6FE4"/>
                          </a:solidFill>
                          <a:latin typeface="Poppins" pitchFamily="34" charset="0"/>
                          <a:ea typeface="Poppins" pitchFamily="34" charset="-122"/>
                          <a:cs typeface="Poppins" pitchFamily="34" charset="-120"/>
                        </a:rPr>
                        <a:t>Home</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3.60</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90% of 72</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0.010</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960"/>
                        </a:lnSpc>
                        <a:buNone/>
                      </a:pPr>
                      <a:r>
                        <a:rPr lang="en-US" sz="1400" dirty="0">
                          <a:solidFill>
                            <a:srgbClr val="171B2E"/>
                          </a:solidFill>
                          <a:latin typeface="Poppins" pitchFamily="34" charset="0"/>
                          <a:ea typeface="Poppins" pitchFamily="34" charset="-122"/>
                          <a:cs typeface="Poppins" pitchFamily="34" charset="-120"/>
                        </a:rPr>
                        <a:t>Related</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B6B4AE"/>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85961">
                <a:tc>
                  <a:txBody>
                    <a:bodyPr/>
                    <a:lstStyle/>
                    <a:p>
                      <a:pPr indent="0" marL="0">
                        <a:lnSpc>
                          <a:spcPts val="1960"/>
                        </a:lnSpc>
                        <a:buNone/>
                      </a:pPr>
                      <a:r>
                        <a:rPr lang="en-US" sz="1400" dirty="0">
                          <a:solidFill>
                            <a:srgbClr val="D63A7A"/>
                          </a:solidFill>
                          <a:latin typeface="Poppins" pitchFamily="34" charset="0"/>
                          <a:ea typeface="Poppins" pitchFamily="34" charset="-122"/>
                          <a:cs typeface="Poppins" pitchFamily="34" charset="-120"/>
                        </a:rPr>
                        <a:t>Bridge</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3.35</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88% of 72</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0.012</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960"/>
                        </a:lnSpc>
                        <a:buNone/>
                      </a:pPr>
                      <a:r>
                        <a:rPr lang="en-US" sz="1400" dirty="0">
                          <a:solidFill>
                            <a:srgbClr val="171B2E"/>
                          </a:solidFill>
                          <a:latin typeface="Poppins" pitchFamily="34" charset="0"/>
                          <a:ea typeface="Poppins" pitchFamily="34" charset="-122"/>
                          <a:cs typeface="Poppins" pitchFamily="34" charset="-120"/>
                        </a:rPr>
                        <a:t>Related</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85961">
                <a:tc>
                  <a:txBody>
                    <a:bodyPr/>
                    <a:lstStyle/>
                    <a:p>
                      <a:pPr indent="0" marL="0">
                        <a:lnSpc>
                          <a:spcPts val="1960"/>
                        </a:lnSpc>
                        <a:buNone/>
                      </a:pPr>
                      <a:r>
                        <a:rPr lang="en-US" sz="1400" dirty="0">
                          <a:solidFill>
                            <a:srgbClr val="B85F0F"/>
                          </a:solidFill>
                          <a:latin typeface="Poppins" pitchFamily="34" charset="0"/>
                          <a:ea typeface="Poppins" pitchFamily="34" charset="-122"/>
                          <a:cs typeface="Poppins" pitchFamily="34" charset="-120"/>
                        </a:rPr>
                        <a:t>Adventure</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1.71</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52% of 72</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0.46</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960"/>
                        </a:lnSpc>
                        <a:buNone/>
                      </a:pPr>
                      <a:r>
                        <a:rPr lang="en-US" sz="1400" dirty="0">
                          <a:solidFill>
                            <a:srgbClr val="171B2E"/>
                          </a:solidFill>
                          <a:latin typeface="Poppins" pitchFamily="34" charset="0"/>
                          <a:ea typeface="Poppins" pitchFamily="34" charset="-122"/>
                          <a:cs typeface="Poppins" pitchFamily="34" charset="-120"/>
                        </a:rPr>
                        <a:t>Not shown</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r h="385961">
                <a:tc>
                  <a:txBody>
                    <a:bodyPr/>
                    <a:lstStyle/>
                    <a:p>
                      <a:pPr indent="0" marL="0">
                        <a:lnSpc>
                          <a:spcPts val="1960"/>
                        </a:lnSpc>
                        <a:buNone/>
                      </a:pPr>
                      <a:r>
                        <a:rPr lang="en-US" sz="1400" dirty="0">
                          <a:solidFill>
                            <a:srgbClr val="4A4F63"/>
                          </a:solidFill>
                          <a:latin typeface="Poppins" pitchFamily="34" charset="0"/>
                          <a:ea typeface="Poppins" pitchFamily="34" charset="-122"/>
                          <a:cs typeface="Poppins" pitchFamily="34" charset="-120"/>
                        </a:rPr>
                        <a:t>Random</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1.72</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algn="r" indent="0" marL="0">
                        <a:lnSpc>
                          <a:spcPts val="1960"/>
                        </a:lnSpc>
                        <a:buNone/>
                      </a:pPr>
                      <a:r>
                        <a:rPr lang="en-US" sz="1400" dirty="0">
                          <a:solidFill>
                            <a:srgbClr val="171B2E"/>
                          </a:solidFill>
                          <a:latin typeface="Poppins" pitchFamily="34" charset="0"/>
                          <a:ea typeface="Poppins" pitchFamily="34" charset="-122"/>
                          <a:cs typeface="Poppins" pitchFamily="34" charset="-120"/>
                        </a:rPr>
                        <a:t>—</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c>
                  <a:txBody>
                    <a:bodyPr/>
                    <a:lstStyle/>
                    <a:p>
                      <a:pPr indent="0" marL="0">
                        <a:lnSpc>
                          <a:spcPts val="1960"/>
                        </a:lnSpc>
                        <a:buNone/>
                      </a:pPr>
                      <a:r>
                        <a:rPr lang="en-US" sz="1400" dirty="0">
                          <a:solidFill>
                            <a:srgbClr val="171B2E"/>
                          </a:solidFill>
                          <a:latin typeface="Poppins" pitchFamily="34" charset="0"/>
                          <a:ea typeface="Poppins" pitchFamily="34" charset="-122"/>
                          <a:cs typeface="Poppins" pitchFamily="34" charset="-120"/>
                        </a:rPr>
                        <a:t>The floor</a:t>
                      </a:r>
                      <a:endParaRPr lang="en-US" sz="1400" dirty="0">
                        <a:latin typeface="Poppins" charset="0"/>
                        <a:ea typeface="Poppins" charset="0"/>
                        <a:cs typeface="Poppins" charset="0"/>
                      </a:endParaRPr>
                    </a:p>
                  </a:txBody>
                  <a:tcPr marL="62230" marR="62230" marT="62230" marB="62230" anchor="t">
                    <a:lnL w="12700" cap="flat" cmpd="sng" algn="ctr">
                      <a:solidFill>
                        <a:srgbClr val="C4C2BB"/>
                      </a:solidFill>
                      <a:prstDash val="solid"/>
                      <a:round/>
                      <a:headEnd type="none" w="med" len="med"/>
                      <a:tailEnd type="none" w="med" len="med"/>
                    </a:lnL>
                    <a:lnR w="12700" cap="flat" cmpd="sng" algn="ctr">
                      <a:solidFill>
                        <a:srgbClr val="C4C2BB"/>
                      </a:solidFill>
                      <a:prstDash val="solid"/>
                      <a:round/>
                      <a:headEnd type="none" w="med" len="med"/>
                      <a:tailEnd type="none" w="med" len="med"/>
                    </a:lnR>
                    <a:lnT w="12700" cap="flat" cmpd="sng" algn="ctr">
                      <a:solidFill>
                        <a:srgbClr val="C4C2BB"/>
                      </a:solidFill>
                      <a:prstDash val="solid"/>
                      <a:round/>
                      <a:headEnd type="none" w="med" len="med"/>
                      <a:tailEnd type="none" w="med" len="med"/>
                    </a:lnT>
                    <a:lnB w="12700" cap="flat" cmpd="sng" algn="ctr">
                      <a:solidFill>
                        <a:srgbClr val="C4C2BB"/>
                      </a:solidFill>
                      <a:prstDash val="solid"/>
                      <a:round/>
                      <a:headEnd type="none" w="med" len="med"/>
                      <a:tailEnd type="none" w="med" len="med"/>
                    </a:lnB>
                  </a:tcPr>
                </a:tc>
              </a:tr>
            </a:tbl>
          </a:graphicData>
        </a:graphic>
      </p:graphicFrame>
      <p:sp>
        <p:nvSpPr>
          <p:cNvPr id="4" name="Shape 1"/>
          <p:cNvSpPr/>
          <p:nvPr/>
        </p:nvSpPr>
        <p:spPr>
          <a:xfrm>
            <a:off x="812800" y="3739555"/>
            <a:ext cx="3403600" cy="2102445"/>
          </a:xfrm>
          <a:prstGeom prst="roundRect">
            <a:avLst>
              <a:gd name="adj" fmla="val 7249"/>
            </a:avLst>
          </a:prstGeom>
          <a:solidFill>
            <a:srgbClr val="171B2E"/>
          </a:solidFill>
          <a:ln/>
        </p:spPr>
      </p:sp>
      <p:sp>
        <p:nvSpPr>
          <p:cNvPr id="5" name="Text 2"/>
          <p:cNvSpPr/>
          <p:nvPr/>
        </p:nvSpPr>
        <p:spPr>
          <a:xfrm>
            <a:off x="1016000" y="3968155"/>
            <a:ext cx="3087116" cy="241300"/>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C8F041"/>
                </a:solidFill>
                <a:latin typeface="Unbounded" pitchFamily="34" charset="0"/>
                <a:ea typeface="Unbounded" pitchFamily="34" charset="-122"/>
                <a:cs typeface="Unbounded" pitchFamily="34" charset="-120"/>
              </a:rPr>
              <a:t>HEARD AS A DIAL</a:t>
            </a:r>
            <a:endParaRPr lang="en-US" sz="1500" dirty="0"/>
          </a:p>
        </p:txBody>
      </p:sp>
      <p:sp>
        <p:nvSpPr>
          <p:cNvPr id="6" name="Text 3"/>
          <p:cNvSpPr/>
          <p:nvPr/>
        </p:nvSpPr>
        <p:spPr>
          <a:xfrm>
            <a:off x="1016000" y="4260255"/>
            <a:ext cx="3087116"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6F3EB"/>
                </a:solidFill>
                <a:latin typeface="Poppins" pitchFamily="34" charset="0"/>
                <a:ea typeface="Poppins" pitchFamily="34" charset="-122"/>
                <a:cs typeface="Poppins" pitchFamily="34" charset="-120"/>
              </a:rPr>
              <a:t>Scores fall Home → Bridge → Adventure (ρ = −0.63, p &lt; 0.0001).</a:t>
            </a:r>
            <a:endParaRPr lang="en-US" sz="1300" dirty="0"/>
          </a:p>
        </p:txBody>
      </p:sp>
      <p:sp>
        <p:nvSpPr>
          <p:cNvPr id="7" name="Shape 4"/>
          <p:cNvSpPr/>
          <p:nvPr/>
        </p:nvSpPr>
        <p:spPr>
          <a:xfrm>
            <a:off x="4394200" y="3739555"/>
            <a:ext cx="3403600" cy="2102445"/>
          </a:xfrm>
          <a:prstGeom prst="roundRect">
            <a:avLst>
              <a:gd name="adj" fmla="val 7249"/>
            </a:avLst>
          </a:prstGeom>
          <a:solidFill>
            <a:srgbClr val="2F6FE4"/>
          </a:solidFill>
          <a:ln/>
        </p:spPr>
      </p:sp>
      <p:sp>
        <p:nvSpPr>
          <p:cNvPr id="8" name="Text 5"/>
          <p:cNvSpPr/>
          <p:nvPr/>
        </p:nvSpPr>
        <p:spPr>
          <a:xfrm>
            <a:off x="4597400" y="3968155"/>
            <a:ext cx="3087116" cy="241300"/>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FBFAF5"/>
                </a:solidFill>
                <a:latin typeface="Unbounded" pitchFamily="34" charset="0"/>
                <a:ea typeface="Unbounded" pitchFamily="34" charset="-122"/>
                <a:cs typeface="Unbounded" pitchFamily="34" charset="-120"/>
              </a:rPr>
              <a:t>HOME ≈ BRIDGE</a:t>
            </a:r>
            <a:endParaRPr lang="en-US" sz="1500" dirty="0"/>
          </a:p>
        </p:txBody>
      </p:sp>
      <p:sp>
        <p:nvSpPr>
          <p:cNvPr id="9" name="Text 6"/>
          <p:cNvSpPr/>
          <p:nvPr/>
        </p:nvSpPr>
        <p:spPr>
          <a:xfrm>
            <a:off x="4597400" y="4260255"/>
            <a:ext cx="3087116" cy="4826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AF5"/>
                </a:solidFill>
                <a:latin typeface="Poppins" pitchFamily="34" charset="0"/>
                <a:ea typeface="Poppins" pitchFamily="34" charset="-122"/>
                <a:cs typeface="Poppins" pitchFamily="34" charset="-120"/>
              </a:rPr>
              <a:t>3.60 vs 3.35, p = 0.31 (exploratory). The real drop is Bridge → Adventure.</a:t>
            </a:r>
            <a:endParaRPr lang="en-US" sz="1300" dirty="0"/>
          </a:p>
        </p:txBody>
      </p:sp>
      <p:sp>
        <p:nvSpPr>
          <p:cNvPr id="10" name="Shape 7"/>
          <p:cNvSpPr/>
          <p:nvPr/>
        </p:nvSpPr>
        <p:spPr>
          <a:xfrm>
            <a:off x="7975600" y="3739555"/>
            <a:ext cx="3403600" cy="2102445"/>
          </a:xfrm>
          <a:prstGeom prst="roundRect">
            <a:avLst>
              <a:gd name="adj" fmla="val 7249"/>
            </a:avLst>
          </a:prstGeom>
          <a:solidFill>
            <a:srgbClr val="D63A7A"/>
          </a:solidFill>
          <a:ln/>
        </p:spPr>
      </p:sp>
      <p:sp>
        <p:nvSpPr>
          <p:cNvPr id="11" name="Text 8"/>
          <p:cNvSpPr/>
          <p:nvPr/>
        </p:nvSpPr>
        <p:spPr>
          <a:xfrm>
            <a:off x="8178800" y="3968155"/>
            <a:ext cx="3087116" cy="457200"/>
          </a:xfrm>
          <a:prstGeom prst="rect">
            <a:avLst/>
          </a:prstGeom>
          <a:noFill/>
          <a:ln/>
        </p:spPr>
        <p:txBody>
          <a:bodyPr wrap="square" lIns="0" tIns="0" rIns="0" bIns="0" rtlCol="0" anchor="t">
            <a:normAutofit/>
          </a:bodyPr>
          <a:lstStyle/>
          <a:p>
            <a:pPr algn="l" indent="0" marL="0">
              <a:lnSpc>
                <a:spcPts val="1725"/>
              </a:lnSpc>
              <a:buNone/>
            </a:pPr>
            <a:r>
              <a:rPr lang="en-US" sz="1500" b="1" dirty="0">
                <a:solidFill>
                  <a:srgbClr val="FBFAF5"/>
                </a:solidFill>
                <a:latin typeface="Unbounded" pitchFamily="34" charset="0"/>
                <a:ea typeface="Unbounded" pitchFamily="34" charset="-122"/>
                <a:cs typeface="Unbounded" pitchFamily="34" charset="-120"/>
              </a:rPr>
              <a:t>ADVENTURE GOES TOO FAR</a:t>
            </a:r>
            <a:endParaRPr lang="en-US" sz="1500" dirty="0"/>
          </a:p>
        </p:txBody>
      </p:sp>
      <p:sp>
        <p:nvSpPr>
          <p:cNvPr id="12" name="Text 9"/>
          <p:cNvSpPr/>
          <p:nvPr/>
        </p:nvSpPr>
        <p:spPr>
          <a:xfrm>
            <a:off x="8178800" y="4476155"/>
            <a:ext cx="3087116" cy="71120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BFAF5"/>
                </a:solidFill>
                <a:latin typeface="Poppins" pitchFamily="34" charset="0"/>
                <a:ea typeface="Poppins" pitchFamily="34" charset="-122"/>
                <a:cs typeface="Poppins" pitchFamily="34" charset="-120"/>
              </a:rPr>
              <a:t>Below Home and Bridge on all 6 seeds. Next: ranks ~400–1,400, re-test.</a:t>
            </a:r>
            <a:endParaRPr lang="en-US" sz="1300" dirty="0"/>
          </a:p>
        </p:txBody>
      </p:sp>
      <p:sp>
        <p:nvSpPr>
          <p:cNvPr id="13" name="Text 10"/>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4F63"/>
                </a:solidFill>
                <a:latin typeface="Poppins" pitchFamily="34" charset="0"/>
                <a:ea typeface="Poppins" pitchFamily="34" charset="-122"/>
                <a:cs typeface="Poppins" pitchFamily="34" charset="-120"/>
              </a:rPr>
              <a:t>6 seeds · 42 pairs · 6 raters · 76 ratings · 35 pairs rated once: single pairs are noisy, the pattern is the evidence.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71B2E"/>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01650"/>
          </a:xfrm>
          <a:prstGeom prst="rect">
            <a:avLst/>
          </a:prstGeom>
          <a:noFill/>
          <a:ln/>
        </p:spPr>
        <p:txBody>
          <a:bodyPr wrap="square" lIns="0" tIns="0" rIns="0" bIns="0" rtlCol="0" anchor="t">
            <a:normAutofit/>
          </a:bodyPr>
          <a:lstStyle/>
          <a:p>
            <a:pPr algn="l" indent="0" marL="0">
              <a:lnSpc>
                <a:spcPts val="3780"/>
              </a:lnSpc>
              <a:buNone/>
            </a:pPr>
            <a:r>
              <a:rPr lang="en-US" sz="3600" b="1" i="0" spc="-50" kern="0" dirty="0">
                <a:solidFill>
                  <a:srgbClr val="C8F041"/>
                </a:solidFill>
                <a:latin typeface="Unbounded" pitchFamily="34" charset="0"/>
                <a:ea typeface="Unbounded" pitchFamily="34" charset="-122"/>
                <a:cs typeface="Unbounded" pitchFamily="34" charset="-120"/>
              </a:rPr>
              <a:t>THE SIX SEEDS</a:t>
            </a:r>
            <a:endParaRPr lang="en-US" sz="3600" dirty="0"/>
          </a:p>
        </p:txBody>
      </p:sp>
      <p:sp>
        <p:nvSpPr>
          <p:cNvPr id="3" name="Text 1"/>
          <p:cNvSpPr/>
          <p:nvPr/>
        </p:nvSpPr>
        <p:spPr>
          <a:xfrm>
            <a:off x="812800" y="144145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6F3EB"/>
                </a:solidFill>
                <a:latin typeface="Poppins" pitchFamily="34" charset="0"/>
                <a:ea typeface="Poppins" pitchFamily="34" charset="-122"/>
                <a:cs typeface="Poppins" pitchFamily="34" charset="-120"/>
              </a:rPr>
              <a:t>On every seed, the Adventure column is shorter than Home and Bridge.</a:t>
            </a:r>
            <a:endParaRPr lang="en-US" sz="1500" dirty="0"/>
          </a:p>
        </p:txBody>
      </p:sp>
      <p:sp>
        <p:nvSpPr>
          <p:cNvPr id="4" name="Shape 2"/>
          <p:cNvSpPr/>
          <p:nvPr/>
        </p:nvSpPr>
        <p:spPr>
          <a:xfrm>
            <a:off x="812800" y="1889125"/>
            <a:ext cx="152400" cy="152400"/>
          </a:xfrm>
          <a:prstGeom prst="roundRect">
            <a:avLst>
              <a:gd name="adj" fmla="val 16667"/>
            </a:avLst>
          </a:prstGeom>
          <a:solidFill>
            <a:srgbClr val="3987E5"/>
          </a:solidFill>
          <a:ln/>
        </p:spPr>
      </p:sp>
      <p:sp>
        <p:nvSpPr>
          <p:cNvPr id="5" name="Text 3"/>
          <p:cNvSpPr/>
          <p:nvPr/>
        </p:nvSpPr>
        <p:spPr>
          <a:xfrm>
            <a:off x="1028700" y="1860550"/>
            <a:ext cx="545425"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Home</a:t>
            </a:r>
            <a:endParaRPr lang="en-US" sz="1200" dirty="0"/>
          </a:p>
        </p:txBody>
      </p:sp>
      <p:sp>
        <p:nvSpPr>
          <p:cNvPr id="6" name="Shape 4"/>
          <p:cNvSpPr/>
          <p:nvPr/>
        </p:nvSpPr>
        <p:spPr>
          <a:xfrm>
            <a:off x="1737221" y="1889125"/>
            <a:ext cx="152400" cy="152400"/>
          </a:xfrm>
          <a:prstGeom prst="roundRect">
            <a:avLst>
              <a:gd name="adj" fmla="val 16667"/>
            </a:avLst>
          </a:prstGeom>
          <a:solidFill>
            <a:srgbClr val="199E70"/>
          </a:solidFill>
          <a:ln/>
        </p:spPr>
      </p:sp>
      <p:sp>
        <p:nvSpPr>
          <p:cNvPr id="7" name="Text 5"/>
          <p:cNvSpPr/>
          <p:nvPr/>
        </p:nvSpPr>
        <p:spPr>
          <a:xfrm>
            <a:off x="1953121" y="1860550"/>
            <a:ext cx="586026"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Bridge</a:t>
            </a:r>
            <a:endParaRPr lang="en-US" sz="1200" dirty="0"/>
          </a:p>
        </p:txBody>
      </p:sp>
      <p:sp>
        <p:nvSpPr>
          <p:cNvPr id="8" name="Shape 6"/>
          <p:cNvSpPr/>
          <p:nvPr/>
        </p:nvSpPr>
        <p:spPr>
          <a:xfrm>
            <a:off x="2695476" y="1889125"/>
            <a:ext cx="152400" cy="152400"/>
          </a:xfrm>
          <a:prstGeom prst="roundRect">
            <a:avLst>
              <a:gd name="adj" fmla="val 16667"/>
            </a:avLst>
          </a:prstGeom>
          <a:solidFill>
            <a:srgbClr val="D95926"/>
          </a:solidFill>
          <a:ln/>
        </p:spPr>
      </p:sp>
      <p:sp>
        <p:nvSpPr>
          <p:cNvPr id="9" name="Text 7"/>
          <p:cNvSpPr/>
          <p:nvPr/>
        </p:nvSpPr>
        <p:spPr>
          <a:xfrm>
            <a:off x="2911376" y="1860550"/>
            <a:ext cx="217656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Adventure (value shown)</a:t>
            </a:r>
            <a:endParaRPr lang="en-US" sz="1200" dirty="0"/>
          </a:p>
        </p:txBody>
      </p:sp>
      <p:sp>
        <p:nvSpPr>
          <p:cNvPr id="10" name="Shape 8"/>
          <p:cNvSpPr/>
          <p:nvPr/>
        </p:nvSpPr>
        <p:spPr>
          <a:xfrm>
            <a:off x="5087938" y="1889125"/>
            <a:ext cx="152400" cy="152400"/>
          </a:xfrm>
          <a:prstGeom prst="roundRect">
            <a:avLst>
              <a:gd name="adj" fmla="val 16667"/>
            </a:avLst>
          </a:prstGeom>
          <a:solidFill>
            <a:srgbClr val="6B7088"/>
          </a:solidFill>
          <a:ln/>
        </p:spPr>
      </p:sp>
      <p:sp>
        <p:nvSpPr>
          <p:cNvPr id="11" name="Text 9"/>
          <p:cNvSpPr/>
          <p:nvPr/>
        </p:nvSpPr>
        <p:spPr>
          <a:xfrm>
            <a:off x="5303838" y="1860550"/>
            <a:ext cx="780931"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6F3EB"/>
                </a:solidFill>
                <a:latin typeface="Poppins" pitchFamily="34" charset="0"/>
                <a:ea typeface="Poppins" pitchFamily="34" charset="-122"/>
                <a:cs typeface="Poppins" pitchFamily="34" charset="-120"/>
              </a:rPr>
              <a:t>Random</a:t>
            </a:r>
            <a:endParaRPr lang="en-US" sz="1200" dirty="0"/>
          </a:p>
        </p:txBody>
      </p:sp>
      <p:pic>
        <p:nvPicPr>
          <p:cNvPr id="12" name="Image 0" descr="Grouped column chart: mean listener score per tier for each of six seeds">    </p:cNvPr>
          <p:cNvPicPr>
            <a:picLocks noChangeAspect="1"/>
          </p:cNvPicPr>
          <p:nvPr/>
        </p:nvPicPr>
        <p:blipFill>
          <a:blip r:embed="rId1"/>
          <a:srcRect l="-33" r="-33" t="0" b="0"/>
          <a:stretch/>
        </p:blipFill>
        <p:spPr>
          <a:xfrm>
            <a:off x="812800" y="2222500"/>
            <a:ext cx="10566400" cy="3619500"/>
          </a:xfrm>
          <a:prstGeom prst="rect">
            <a:avLst/>
          </a:prstGeom>
        </p:spPr>
      </p:pic>
      <p:sp>
        <p:nvSpPr>
          <p:cNvPr id="13" name="Text 10"/>
          <p:cNvSpPr/>
          <p:nvPr/>
        </p:nvSpPr>
        <p:spPr>
          <a:xfrm>
            <a:off x="762000" y="2241550"/>
            <a:ext cx="4064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1A6"/>
                </a:solidFill>
                <a:latin typeface="Poppins" pitchFamily="34" charset="0"/>
                <a:ea typeface="Poppins" pitchFamily="34" charset="-122"/>
                <a:cs typeface="Poppins" pitchFamily="34" charset="-120"/>
              </a:rPr>
              <a:t>5</a:t>
            </a:r>
            <a:endParaRPr lang="en-US" sz="1200" dirty="0"/>
          </a:p>
        </p:txBody>
      </p:sp>
      <p:sp>
        <p:nvSpPr>
          <p:cNvPr id="14" name="Text 11"/>
          <p:cNvSpPr/>
          <p:nvPr/>
        </p:nvSpPr>
        <p:spPr>
          <a:xfrm>
            <a:off x="762000" y="2851150"/>
            <a:ext cx="4064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1A6"/>
                </a:solidFill>
                <a:latin typeface="Poppins" pitchFamily="34" charset="0"/>
                <a:ea typeface="Poppins" pitchFamily="34" charset="-122"/>
                <a:cs typeface="Poppins" pitchFamily="34" charset="-120"/>
              </a:rPr>
              <a:t>4</a:t>
            </a:r>
            <a:endParaRPr lang="en-US" sz="1200" dirty="0"/>
          </a:p>
        </p:txBody>
      </p:sp>
      <p:sp>
        <p:nvSpPr>
          <p:cNvPr id="15" name="Text 12"/>
          <p:cNvSpPr/>
          <p:nvPr/>
        </p:nvSpPr>
        <p:spPr>
          <a:xfrm>
            <a:off x="762000" y="3460750"/>
            <a:ext cx="4064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1A6"/>
                </a:solidFill>
                <a:latin typeface="Poppins" pitchFamily="34" charset="0"/>
                <a:ea typeface="Poppins" pitchFamily="34" charset="-122"/>
                <a:cs typeface="Poppins" pitchFamily="34" charset="-120"/>
              </a:rPr>
              <a:t>3</a:t>
            </a:r>
            <a:endParaRPr lang="en-US" sz="1200" dirty="0"/>
          </a:p>
        </p:txBody>
      </p:sp>
      <p:sp>
        <p:nvSpPr>
          <p:cNvPr id="16" name="Text 13"/>
          <p:cNvSpPr/>
          <p:nvPr/>
        </p:nvSpPr>
        <p:spPr>
          <a:xfrm>
            <a:off x="762000" y="4070350"/>
            <a:ext cx="4064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1A6"/>
                </a:solidFill>
                <a:latin typeface="Poppins" pitchFamily="34" charset="0"/>
                <a:ea typeface="Poppins" pitchFamily="34" charset="-122"/>
                <a:cs typeface="Poppins" pitchFamily="34" charset="-120"/>
              </a:rPr>
              <a:t>2</a:t>
            </a:r>
            <a:endParaRPr lang="en-US" sz="1200" dirty="0"/>
          </a:p>
        </p:txBody>
      </p:sp>
      <p:sp>
        <p:nvSpPr>
          <p:cNvPr id="17" name="Text 14"/>
          <p:cNvSpPr/>
          <p:nvPr/>
        </p:nvSpPr>
        <p:spPr>
          <a:xfrm>
            <a:off x="762000" y="4679950"/>
            <a:ext cx="4064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1A6"/>
                </a:solidFill>
                <a:latin typeface="Poppins" pitchFamily="34" charset="0"/>
                <a:ea typeface="Poppins" pitchFamily="34" charset="-122"/>
                <a:cs typeface="Poppins" pitchFamily="34" charset="-120"/>
              </a:rPr>
              <a:t>1</a:t>
            </a:r>
            <a:endParaRPr lang="en-US" sz="1200" dirty="0"/>
          </a:p>
        </p:txBody>
      </p:sp>
      <p:sp>
        <p:nvSpPr>
          <p:cNvPr id="18" name="Text 15"/>
          <p:cNvSpPr/>
          <p:nvPr/>
        </p:nvSpPr>
        <p:spPr>
          <a:xfrm>
            <a:off x="762000" y="5289550"/>
            <a:ext cx="406400" cy="23495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C91A6"/>
                </a:solidFill>
                <a:latin typeface="Poppins" pitchFamily="34" charset="0"/>
                <a:ea typeface="Poppins" pitchFamily="34" charset="-122"/>
                <a:cs typeface="Poppins" pitchFamily="34" charset="-120"/>
              </a:rPr>
              <a:t>0</a:t>
            </a:r>
            <a:endParaRPr lang="en-US" sz="1200" dirty="0"/>
          </a:p>
        </p:txBody>
      </p:sp>
      <p:sp>
        <p:nvSpPr>
          <p:cNvPr id="19" name="Text 16"/>
          <p:cNvSpPr/>
          <p:nvPr/>
        </p:nvSpPr>
        <p:spPr>
          <a:xfrm>
            <a:off x="2051050" y="41021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1.75</a:t>
            </a:r>
            <a:endParaRPr lang="en-US" sz="1200" dirty="0"/>
          </a:p>
        </p:txBody>
      </p:sp>
      <p:sp>
        <p:nvSpPr>
          <p:cNvPr id="20" name="Text 17"/>
          <p:cNvSpPr/>
          <p:nvPr/>
        </p:nvSpPr>
        <p:spPr>
          <a:xfrm>
            <a:off x="3740150" y="36449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2.50</a:t>
            </a:r>
            <a:endParaRPr lang="en-US" sz="1200" dirty="0"/>
          </a:p>
        </p:txBody>
      </p:sp>
      <p:sp>
        <p:nvSpPr>
          <p:cNvPr id="21" name="Text 18"/>
          <p:cNvSpPr/>
          <p:nvPr/>
        </p:nvSpPr>
        <p:spPr>
          <a:xfrm>
            <a:off x="5422900" y="39497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2.00</a:t>
            </a:r>
            <a:endParaRPr lang="en-US" sz="1200" dirty="0"/>
          </a:p>
        </p:txBody>
      </p:sp>
      <p:sp>
        <p:nvSpPr>
          <p:cNvPr id="22" name="Text 19"/>
          <p:cNvSpPr/>
          <p:nvPr/>
        </p:nvSpPr>
        <p:spPr>
          <a:xfrm>
            <a:off x="7112000" y="45593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1.00</a:t>
            </a:r>
            <a:endParaRPr lang="en-US" sz="1200" dirty="0"/>
          </a:p>
        </p:txBody>
      </p:sp>
      <p:sp>
        <p:nvSpPr>
          <p:cNvPr id="23" name="Text 20"/>
          <p:cNvSpPr/>
          <p:nvPr/>
        </p:nvSpPr>
        <p:spPr>
          <a:xfrm>
            <a:off x="8801100" y="42545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1.50</a:t>
            </a:r>
            <a:endParaRPr lang="en-US" sz="1200" dirty="0"/>
          </a:p>
        </p:txBody>
      </p:sp>
      <p:sp>
        <p:nvSpPr>
          <p:cNvPr id="24" name="Text 21"/>
          <p:cNvSpPr/>
          <p:nvPr/>
        </p:nvSpPr>
        <p:spPr>
          <a:xfrm>
            <a:off x="10483850" y="4254500"/>
            <a:ext cx="43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1.50</a:t>
            </a:r>
            <a:endParaRPr lang="en-US" sz="1200" dirty="0"/>
          </a:p>
        </p:txBody>
      </p:sp>
      <p:sp>
        <p:nvSpPr>
          <p:cNvPr id="25" name="Text 22"/>
          <p:cNvSpPr/>
          <p:nvPr/>
        </p:nvSpPr>
        <p:spPr>
          <a:xfrm>
            <a:off x="1250950" y="5473700"/>
            <a:ext cx="170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Folk</a:t>
            </a:r>
            <a:endParaRPr lang="en-US" sz="1200" dirty="0"/>
          </a:p>
        </p:txBody>
      </p:sp>
      <p:sp>
        <p:nvSpPr>
          <p:cNvPr id="26" name="Text 23"/>
          <p:cNvSpPr/>
          <p:nvPr/>
        </p:nvSpPr>
        <p:spPr>
          <a:xfrm>
            <a:off x="2940050" y="5473700"/>
            <a:ext cx="170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Electronic</a:t>
            </a:r>
            <a:endParaRPr lang="en-US" sz="1200" dirty="0"/>
          </a:p>
        </p:txBody>
      </p:sp>
      <p:sp>
        <p:nvSpPr>
          <p:cNvPr id="27" name="Text 24"/>
          <p:cNvSpPr/>
          <p:nvPr/>
        </p:nvSpPr>
        <p:spPr>
          <a:xfrm>
            <a:off x="4622800" y="5473700"/>
            <a:ext cx="170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Jazz</a:t>
            </a:r>
            <a:endParaRPr lang="en-US" sz="1200" dirty="0"/>
          </a:p>
        </p:txBody>
      </p:sp>
      <p:sp>
        <p:nvSpPr>
          <p:cNvPr id="28" name="Text 25"/>
          <p:cNvSpPr/>
          <p:nvPr/>
        </p:nvSpPr>
        <p:spPr>
          <a:xfrm>
            <a:off x="6311900" y="5473700"/>
            <a:ext cx="170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Old-Time</a:t>
            </a:r>
            <a:endParaRPr lang="en-US" sz="1200" dirty="0"/>
          </a:p>
        </p:txBody>
      </p:sp>
      <p:sp>
        <p:nvSpPr>
          <p:cNvPr id="29" name="Text 26"/>
          <p:cNvSpPr/>
          <p:nvPr/>
        </p:nvSpPr>
        <p:spPr>
          <a:xfrm>
            <a:off x="8001000" y="5473700"/>
            <a:ext cx="170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Instrumental</a:t>
            </a:r>
            <a:endParaRPr lang="en-US" sz="1200" dirty="0"/>
          </a:p>
        </p:txBody>
      </p:sp>
      <p:sp>
        <p:nvSpPr>
          <p:cNvPr id="30" name="Text 27"/>
          <p:cNvSpPr/>
          <p:nvPr/>
        </p:nvSpPr>
        <p:spPr>
          <a:xfrm>
            <a:off x="9683750" y="5473700"/>
            <a:ext cx="1701800" cy="23495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F6F3EB"/>
                </a:solidFill>
                <a:latin typeface="Poppins" pitchFamily="34" charset="0"/>
                <a:ea typeface="Poppins" pitchFamily="34" charset="-122"/>
                <a:cs typeface="Poppins" pitchFamily="34" charset="-120"/>
              </a:rPr>
              <a:t>Country</a:t>
            </a:r>
            <a:endParaRPr lang="en-US" sz="1200" dirty="0"/>
          </a:p>
        </p:txBody>
      </p:sp>
      <p:sp>
        <p:nvSpPr>
          <p:cNvPr id="31" name="Text 28"/>
          <p:cNvSpPr/>
          <p:nvPr/>
        </p:nvSpPr>
        <p:spPr>
          <a:xfrm>
            <a:off x="812800" y="6242050"/>
            <a:ext cx="10883392" cy="23495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ED3"/>
                </a:solidFill>
                <a:latin typeface="Poppins" pitchFamily="34" charset="0"/>
                <a:ea typeface="Poppins" pitchFamily="34" charset="-122"/>
                <a:cs typeface="Poppins" pitchFamily="34" charset="-120"/>
              </a:rPr>
              <a:t>Mean listener score, 1–5. Each tier column = 2 pairs, random = 1 pair; most pairs have one rating, so a single column is noisy.</a:t>
            </a:r>
            <a:endParaRPr lang="en-US" sz="1200" dirty="0"/>
          </a:p>
        </p:txBody>
      </p:sp>
    </p:spTree>
  </p:cSld>
  <p:clrMapOvr>
    <a:masterClrMapping/>
  </p:clrMapOvr>
</p:sld>
</file>

<file path=ppt/theme/theme1.xml><?xml version="1.0" encoding="utf-8"?>
<a:theme xmlns:a="http://schemas.openxmlformats.org/drawingml/2006/main" name="TasteBridge — journey and live test">
  <a:themeElements>
    <a:clrScheme name="TasteBridge — journey and live test">
      <a:dk1>
        <a:srgbClr val="171B2E"/>
      </a:dk1>
      <a:lt1>
        <a:srgbClr val="F6F3EB"/>
      </a:lt1>
      <a:dk2>
        <a:srgbClr val="4F515D"/>
      </a:dk2>
      <a:lt2>
        <a:srgbClr val="E0DDD8"/>
      </a:lt2>
      <a:accent1>
        <a:srgbClr val="C8F041"/>
      </a:accent1>
      <a:accent2>
        <a:srgbClr val="FF86B9"/>
      </a:accent2>
      <a:accent3>
        <a:srgbClr val="D63A7A"/>
      </a:accent3>
      <a:accent4>
        <a:srgbClr val="2F6FE4"/>
      </a:accent4>
      <a:accent5>
        <a:srgbClr val="E07B1F"/>
      </a:accent5>
      <a:accent6>
        <a:srgbClr val="3987E5"/>
      </a:accent6>
      <a:hlink>
        <a:srgbClr val="0563C1"/>
      </a:hlink>
      <a:folHlink>
        <a:srgbClr val="954F72"/>
      </a:folHlink>
    </a:clrScheme>
    <a:fontScheme name="TasteBridge — journey and live test">
      <a:majorFont>
        <a:latin typeface="Unbound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TasteBridge — journey and live test</dc:title>
  <dc:subject/>
  <dc:creator/>
  <cp:lastModifiedBy/>
  <cp:revision>1</cp:revision>
  <dcterms:created xsi:type="dcterms:W3CDTF">2026-10-09T06:40:01Z</dcterms:created>
  <dcterms:modified xsi:type="dcterms:W3CDTF">2026-10-09T06:40:01Z</dcterms:modified>
</cp:coreProperties>
</file>